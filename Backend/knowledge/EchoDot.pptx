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1330" r:id="rId2"/>
    <p:sldId id="1331" r:id="rId3"/>
    <p:sldId id="1333" r:id="rId4"/>
    <p:sldId id="1345" r:id="rId5"/>
    <p:sldId id="1346" r:id="rId6"/>
    <p:sldId id="1336" r:id="rId7"/>
    <p:sldId id="1344" r:id="rId8"/>
    <p:sldId id="134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4" autoAdjust="0"/>
    <p:restoredTop sz="94658"/>
  </p:normalViewPr>
  <p:slideViewPr>
    <p:cSldViewPr snapToGrid="0">
      <p:cViewPr varScale="1">
        <p:scale>
          <a:sx n="120" d="100"/>
          <a:sy n="120" d="100"/>
        </p:scale>
        <p:origin x="32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547DE3-FA65-44D2-8AFD-408FAC3F4CF8}" type="datetimeFigureOut">
              <a:rPr lang="en-IN" smtClean="0"/>
              <a:t>27/05/25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EB6499-84DE-4A46-B8FE-79AD0FFB0F86}" type="slidenum">
              <a:rPr lang="en-IN" smtClean="0"/>
              <a:t>‹#›</a:t>
            </a:fld>
            <a:endParaRPr lang="en-IN"/>
          </a:p>
        </p:txBody>
      </p:sp>
    </p:spTree>
    <p:extLst>
      <p:ext uri="{BB962C8B-B14F-4D97-AF65-F5344CB8AC3E}">
        <p14:creationId xmlns:p14="http://schemas.microsoft.com/office/powerpoint/2010/main" val="1192810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Greetings and welcome to this training session! Today, we will be exploring the incredible capabilities of the all-new Echo Dot 5th Generation. With its enhanced sound quality and advanced controls, this device is a game-changer in the world of smart home technology. </a:t>
            </a:r>
            <a:endParaRPr lang="en-US" dirty="0"/>
          </a:p>
        </p:txBody>
      </p:sp>
      <p:sp>
        <p:nvSpPr>
          <p:cNvPr id="4" name="Slide Number Placeholder 3"/>
          <p:cNvSpPr>
            <a:spLocks noGrp="1"/>
          </p:cNvSpPr>
          <p:nvPr>
            <p:ph type="sldNum" sz="quarter" idx="5"/>
          </p:nvPr>
        </p:nvSpPr>
        <p:spPr/>
        <p:txBody>
          <a:bodyPr/>
          <a:lstStyle/>
          <a:p>
            <a:fld id="{DA0334D5-85B7-4A95-9F4B-F0D2435D7E9E}" type="slidenum">
              <a:rPr lang="en-US" smtClean="0"/>
              <a:t>1</a:t>
            </a:fld>
            <a:endParaRPr lang="en-US"/>
          </a:p>
        </p:txBody>
      </p:sp>
    </p:spTree>
    <p:extLst>
      <p:ext uri="{BB962C8B-B14F-4D97-AF65-F5344CB8AC3E}">
        <p14:creationId xmlns:p14="http://schemas.microsoft.com/office/powerpoint/2010/main" val="545216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74151"/>
                </a:solidFill>
                <a:effectLst/>
                <a:latin typeface="Söhne"/>
              </a:rPr>
              <a:t>The Echo Dot 5</a:t>
            </a:r>
            <a:r>
              <a:rPr lang="en-US" b="0" i="0" baseline="30000" dirty="0">
                <a:solidFill>
                  <a:srgbClr val="374151"/>
                </a:solidFill>
                <a:effectLst/>
                <a:latin typeface="Söhne"/>
              </a:rPr>
              <a:t>th</a:t>
            </a:r>
            <a:r>
              <a:rPr lang="en-US" b="0" i="0" dirty="0">
                <a:solidFill>
                  <a:srgbClr val="374151"/>
                </a:solidFill>
                <a:effectLst/>
                <a:latin typeface="Söhne"/>
              </a:rPr>
              <a:t>-gen comes packed with exciting new features that take your smart speaker experience to a whole new level. With its improved speaker system, you'll enjoy 10% larger speakers and up to 2x more bass for a richer, more immersive audio experience.</a:t>
            </a:r>
          </a:p>
          <a:p>
            <a:pPr algn="l"/>
            <a:r>
              <a:rPr lang="en-US" b="0" i="0" dirty="0">
                <a:solidFill>
                  <a:srgbClr val="374151"/>
                </a:solidFill>
                <a:effectLst/>
                <a:latin typeface="Söhne"/>
              </a:rPr>
              <a:t>But that's not all! The Echo Dot 5</a:t>
            </a:r>
            <a:r>
              <a:rPr lang="en-US" b="0" i="0" baseline="30000" dirty="0">
                <a:solidFill>
                  <a:srgbClr val="374151"/>
                </a:solidFill>
                <a:effectLst/>
                <a:latin typeface="Söhne"/>
              </a:rPr>
              <a:t>th</a:t>
            </a:r>
            <a:r>
              <a:rPr lang="en-US" b="0" i="0" dirty="0">
                <a:solidFill>
                  <a:srgbClr val="374151"/>
                </a:solidFill>
                <a:effectLst/>
                <a:latin typeface="Söhne"/>
              </a:rPr>
              <a:t>-gen also features ultrasound motion detection that enables convenient routines like automatically activating lights when you enter a room. Plus, the temperature sensor allows you to create helpful routines, such as automatically turning on the AC when the temperature rises above a certain threshold.</a:t>
            </a:r>
          </a:p>
          <a:p>
            <a:pPr algn="l"/>
            <a:r>
              <a:rPr lang="en-US" b="0" i="0" dirty="0">
                <a:solidFill>
                  <a:srgbClr val="374151"/>
                </a:solidFill>
                <a:effectLst/>
                <a:latin typeface="Söhne"/>
              </a:rPr>
              <a:t>Managing these routines is effortless with the Alexa app, where you can easily customize and modify them to fit your needs.</a:t>
            </a:r>
          </a:p>
          <a:p>
            <a:pPr algn="l"/>
            <a:r>
              <a:rPr lang="en-US" b="0" i="0" dirty="0">
                <a:solidFill>
                  <a:srgbClr val="374151"/>
                </a:solidFill>
                <a:effectLst/>
                <a:latin typeface="Söhne"/>
              </a:rPr>
              <a:t>And when it comes to controlling your music and alarms, the Echo Dot 5th Gen makes it easier than ever with a simple tap. Effortlessly pause or resume your music or snooze your alarms without having to fumble for buttons or controls.</a:t>
            </a:r>
          </a:p>
          <a:p>
            <a:pPr algn="l"/>
            <a:r>
              <a:rPr lang="en-US" b="0" i="0" dirty="0">
                <a:solidFill>
                  <a:srgbClr val="374151"/>
                </a:solidFill>
                <a:effectLst/>
                <a:latin typeface="Söhne"/>
              </a:rPr>
              <a:t>Experience the next level of smart home technology with the all-new Echo Dot 5</a:t>
            </a:r>
            <a:r>
              <a:rPr lang="en-US" b="0" i="0" baseline="30000" dirty="0">
                <a:solidFill>
                  <a:srgbClr val="374151"/>
                </a:solidFill>
                <a:effectLst/>
                <a:latin typeface="Söhne"/>
              </a:rPr>
              <a:t>th</a:t>
            </a:r>
            <a:r>
              <a:rPr lang="en-US" b="0" i="0" dirty="0">
                <a:solidFill>
                  <a:srgbClr val="374151"/>
                </a:solidFill>
                <a:effectLst/>
                <a:latin typeface="Söhne"/>
              </a:rPr>
              <a:t>-gen.</a:t>
            </a:r>
          </a:p>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145A36-25BC-4AEF-92EC-615DB129398E}"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8194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74151"/>
                </a:solidFill>
                <a:effectLst/>
                <a:latin typeface="Söhne"/>
              </a:rPr>
              <a:t>The Echo Dot 5th-gen takes home automation to the next level with its advanced motion detection and temperature sensor features. With these innovative capabilities, you can create powerful routines that make your home smarter and more efficient than ever before.</a:t>
            </a:r>
          </a:p>
          <a:p>
            <a:pPr algn="l"/>
            <a:r>
              <a:rPr lang="en-US" b="0" i="0" dirty="0">
                <a:solidFill>
                  <a:srgbClr val="374151"/>
                </a:solidFill>
                <a:effectLst/>
                <a:latin typeface="Söhne"/>
              </a:rPr>
              <a:t>The motion detection feature lets you control your devices based on motions around the Echo Dot. Turn your lights on and off automatically when you enter or leave a room, or switch on your TV when you settle down on the couch. It's like having a personal assistant who knows exactly what you need, when you need it.</a:t>
            </a:r>
          </a:p>
          <a:p>
            <a:pPr algn="l"/>
            <a:r>
              <a:rPr lang="en-US" b="0" i="0" dirty="0">
                <a:solidFill>
                  <a:srgbClr val="374151"/>
                </a:solidFill>
                <a:effectLst/>
                <a:latin typeface="Söhne"/>
              </a:rPr>
              <a:t>The temperature sensor is another amazing feature that allows you to set up routines to control your AC or heating system based on changes in temperature. Imagine walking into a perfectly cooled room on a hot summer day or returning to a cozy, warm home in the middle of winter. With the Echo Dot 5th-gen, it's all possible.</a:t>
            </a:r>
          </a:p>
          <a:p>
            <a:pPr algn="l"/>
            <a:r>
              <a:rPr lang="en-US" b="0" i="0" dirty="0">
                <a:solidFill>
                  <a:srgbClr val="374151"/>
                </a:solidFill>
                <a:effectLst/>
                <a:latin typeface="Söhne"/>
              </a:rPr>
              <a:t>With these advanced features, you can effortlessly set up routines that fit your lifestyle and save you time and energy. The Echo Dot 5th-gen truly puts the power of home automation at your fingertips.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145A36-25BC-4AEF-92EC-615DB129398E}"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26366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74151"/>
                </a:solidFill>
                <a:effectLst/>
                <a:latin typeface="Söhne"/>
              </a:rPr>
              <a:t>Have you heard about ultrasound motion detection? It's an amazing feature of the Echo Dot 5th-gen that allows for even more advanced home automation.</a:t>
            </a:r>
          </a:p>
          <a:p>
            <a:pPr algn="l"/>
            <a:r>
              <a:rPr lang="en-US" b="0" i="0" dirty="0">
                <a:solidFill>
                  <a:srgbClr val="374151"/>
                </a:solidFill>
                <a:effectLst/>
                <a:latin typeface="Söhne"/>
              </a:rPr>
              <a:t>Here's how it works: the Echo Dot emits ultrasound waves and uses its built-in microphones to detect motion near the device. This means that you can set up routines that activate based on your movements around the room. For example, you can have your lights turn on automatically when you enter the room, or turn off when you leave.</a:t>
            </a:r>
          </a:p>
          <a:p>
            <a:pPr algn="l"/>
            <a:r>
              <a:rPr lang="en-US" b="0" i="0" dirty="0">
                <a:solidFill>
                  <a:srgbClr val="374151"/>
                </a:solidFill>
                <a:effectLst/>
                <a:latin typeface="Söhne"/>
              </a:rPr>
              <a:t>While the motion detection feature is designed to detect major movements, it may not pick up on minor ones. However, even without occupancy being detected, routines can still be activated. So, you can have your devices turn off automatically when the room is empty, saving you energy and time.</a:t>
            </a:r>
          </a:p>
          <a:p>
            <a:pPr algn="l"/>
            <a:r>
              <a:rPr lang="en-US" b="0" i="0" dirty="0">
                <a:solidFill>
                  <a:srgbClr val="374151"/>
                </a:solidFill>
                <a:effectLst/>
                <a:latin typeface="Söhne"/>
              </a:rPr>
              <a:t>With ultrasound motion detection, the Echo Dot 5th-gen takes home automation to a whole new level. So, why not try it out and see how it can make your life easier and more convenient?</a:t>
            </a:r>
          </a:p>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145A36-25BC-4AEF-92EC-615DB129398E}"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6042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74151"/>
                </a:solidFill>
                <a:effectLst/>
                <a:latin typeface="Söhne"/>
              </a:rPr>
              <a:t>Ultrasound motion detection is an incredible feature of the Echo Dot 5th-gen, but there are some points to keep in mind when using it.</a:t>
            </a:r>
          </a:p>
          <a:p>
            <a:pPr algn="l"/>
            <a:r>
              <a:rPr lang="en-US" b="0" i="0" dirty="0">
                <a:solidFill>
                  <a:srgbClr val="374151"/>
                </a:solidFill>
                <a:effectLst/>
                <a:latin typeface="Söhne"/>
              </a:rPr>
              <a:t>One important thing to note is that the motion detection function suppresses routine triggers for 30 minutes after a routine has been activated. This means that if a routine has been activated, it will not activate again for at least 30 minutes, even if motion is detected during that time.</a:t>
            </a:r>
          </a:p>
          <a:p>
            <a:pPr algn="l"/>
            <a:r>
              <a:rPr lang="en-US" b="0" i="0" dirty="0">
                <a:solidFill>
                  <a:srgbClr val="374151"/>
                </a:solidFill>
                <a:effectLst/>
                <a:latin typeface="Söhne"/>
              </a:rPr>
              <a:t>While this may seem like a limitation, it's actually a feature that prevents unnecessary activations of routines and provides a more seamless and efficient experience. For example, if you have a routine to turn on the lights, it won't keep turning them on and off every time you move around the room. Instead, it will only activate once, and then wait for 30 minutes before activating again.</a:t>
            </a:r>
          </a:p>
          <a:p>
            <a:pPr algn="l"/>
            <a:r>
              <a:rPr lang="en-US" b="0" i="0" dirty="0">
                <a:solidFill>
                  <a:srgbClr val="374151"/>
                </a:solidFill>
                <a:effectLst/>
                <a:latin typeface="Söhne"/>
              </a:rPr>
              <a:t>Similarly, if you have a routine to turn off the lights, it will only activate if no motion is detected for at least 30 minutes. This ensures that you're not left in the dark if you're simply moving around the room and not actually leaving.</a:t>
            </a:r>
          </a:p>
          <a:p>
            <a:pPr algn="l"/>
            <a:r>
              <a:rPr lang="en-US" b="0" i="0" dirty="0">
                <a:solidFill>
                  <a:srgbClr val="374151"/>
                </a:solidFill>
                <a:effectLst/>
                <a:latin typeface="Söhne"/>
              </a:rPr>
              <a:t>Overall, ultrasound motion detection is an incredible feature that adds even more convenience and efficiency to your home automation.</a:t>
            </a:r>
          </a:p>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145A36-25BC-4AEF-92EC-615DB129398E}"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13620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The customer profile for Echo Dot 5th Generation includes someone who is looking for an entry-level smart speaker with improved sound quality and deeper bass. They are interested in utilizing the in-built motion detection and temperature sensor for home automation and want to easily control music playback and other features with tap gestures. Additionally, they are interested in exploring the latest technology and features offered by the Echo Dot 5th gen.</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145A36-25BC-4AEF-92EC-615DB129398E}"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3967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Here is the 60-second pitch for Echo dot 5th-gen.</a:t>
            </a:r>
          </a:p>
          <a:p>
            <a:pPr marR="0" lvl="0" algn="l" defTabSz="914400" rtl="0" eaLnBrk="1" fontAlgn="auto" latinLnBrk="0" hangingPunct="1">
              <a:lnSpc>
                <a:spcPct val="100000"/>
              </a:lnSpc>
              <a:spcBef>
                <a:spcPts val="0"/>
              </a:spcBef>
              <a:spcAft>
                <a:spcPts val="0"/>
              </a:spcAft>
              <a:buClrTx/>
              <a:buSzTx/>
              <a:tabLst/>
              <a:defRPr/>
            </a:pPr>
            <a:r>
              <a:rPr lang="en-US" sz="1200" b="0" i="0" dirty="0">
                <a:solidFill>
                  <a:srgbClr val="343541"/>
                </a:solidFill>
                <a:effectLst/>
                <a:latin typeface="Söhne"/>
              </a:rPr>
              <a:t>Introducing the 5</a:t>
            </a:r>
            <a:r>
              <a:rPr lang="en-US" sz="1200" b="0" i="0" baseline="30000" dirty="0">
                <a:solidFill>
                  <a:srgbClr val="343541"/>
                </a:solidFill>
                <a:effectLst/>
                <a:latin typeface="Söhne"/>
              </a:rPr>
              <a:t>th</a:t>
            </a:r>
            <a:r>
              <a:rPr lang="en-US" sz="1200" b="0" i="0" dirty="0">
                <a:solidFill>
                  <a:srgbClr val="343541"/>
                </a:solidFill>
                <a:effectLst/>
                <a:latin typeface="Söhne"/>
              </a:rPr>
              <a:t> Generation Echo Dot with Alexa, </a:t>
            </a:r>
            <a:r>
              <a:rPr lang="en-US" sz="1200" b="0" i="0" dirty="0">
                <a:solidFill>
                  <a:srgbClr val="00B0F0"/>
                </a:solidFill>
                <a:effectLst/>
                <a:latin typeface="Söhne"/>
              </a:rPr>
              <a:t>the smart speaker that </a:t>
            </a:r>
            <a:r>
              <a:rPr lang="en-US" sz="1200" b="0" i="0" dirty="0">
                <a:solidFill>
                  <a:srgbClr val="343541"/>
                </a:solidFill>
                <a:effectLst/>
                <a:latin typeface="Söhne"/>
              </a:rPr>
              <a:t>can do it all. With </a:t>
            </a:r>
            <a:r>
              <a:rPr lang="en-US" sz="1200" dirty="0">
                <a:solidFill>
                  <a:srgbClr val="00B0F0"/>
                </a:solidFill>
                <a:latin typeface="Söhne"/>
              </a:rPr>
              <a:t>higher volumes, d</a:t>
            </a:r>
            <a:r>
              <a:rPr lang="en-US" sz="1200" b="0" i="0" dirty="0">
                <a:solidFill>
                  <a:srgbClr val="00B0F0"/>
                </a:solidFill>
                <a:effectLst/>
                <a:latin typeface="Söhne"/>
              </a:rPr>
              <a:t>eeper bass and clearer vocals</a:t>
            </a:r>
            <a:r>
              <a:rPr lang="en-US" sz="1200" b="0" i="0" dirty="0">
                <a:solidFill>
                  <a:srgbClr val="343541"/>
                </a:solidFill>
                <a:effectLst/>
                <a:latin typeface="Söhne"/>
              </a:rPr>
              <a:t> than all previous generations, you can </a:t>
            </a:r>
            <a:r>
              <a:rPr lang="en-US" sz="1200" b="0" i="0" dirty="0">
                <a:solidFill>
                  <a:srgbClr val="00B0F0"/>
                </a:solidFill>
                <a:effectLst/>
                <a:latin typeface="Söhne"/>
              </a:rPr>
              <a:t>enjoy your favorite music</a:t>
            </a:r>
            <a:r>
              <a:rPr lang="en-US" sz="1200" b="0" i="0" dirty="0">
                <a:solidFill>
                  <a:srgbClr val="343541"/>
                </a:solidFill>
                <a:effectLst/>
                <a:latin typeface="Söhne"/>
              </a:rPr>
              <a:t> from Amazon Music, Hungama, Spotify, Jio </a:t>
            </a:r>
            <a:r>
              <a:rPr lang="en-US" sz="1200" b="0" i="0" dirty="0" err="1">
                <a:solidFill>
                  <a:srgbClr val="343541"/>
                </a:solidFill>
                <a:effectLst/>
                <a:latin typeface="Söhne"/>
              </a:rPr>
              <a:t>Saavn</a:t>
            </a:r>
            <a:r>
              <a:rPr lang="en-US" sz="1200" b="0" i="0" dirty="0">
                <a:solidFill>
                  <a:srgbClr val="343541"/>
                </a:solidFill>
                <a:effectLst/>
                <a:latin typeface="Söhne"/>
              </a:rPr>
              <a:t>, Apple Music and more. Just ask Alexa to play what you want.</a:t>
            </a:r>
          </a:p>
          <a:p>
            <a:pPr marR="0" lvl="0" algn="l" defTabSz="914400" rtl="0" eaLnBrk="1" fontAlgn="auto" latinLnBrk="0" hangingPunct="1">
              <a:lnSpc>
                <a:spcPct val="100000"/>
              </a:lnSpc>
              <a:spcBef>
                <a:spcPts val="0"/>
              </a:spcBef>
              <a:spcAft>
                <a:spcPts val="0"/>
              </a:spcAft>
              <a:buClrTx/>
              <a:buSzTx/>
              <a:tabLst/>
              <a:defRPr/>
            </a:pPr>
            <a:endParaRPr lang="en-US" sz="1200" b="0" i="0" dirty="0">
              <a:solidFill>
                <a:srgbClr val="343541"/>
              </a:solidFill>
              <a:effectLst/>
              <a:latin typeface="Söhne"/>
            </a:endParaRPr>
          </a:p>
          <a:p>
            <a:pPr marR="0" lvl="0" algn="l" defTabSz="914400" rtl="0" eaLnBrk="1" fontAlgn="auto" latinLnBrk="0" hangingPunct="1">
              <a:lnSpc>
                <a:spcPct val="100000"/>
              </a:lnSpc>
              <a:spcBef>
                <a:spcPts val="0"/>
              </a:spcBef>
              <a:spcAft>
                <a:spcPts val="0"/>
              </a:spcAft>
              <a:buClrTx/>
              <a:buSzTx/>
              <a:tabLst/>
              <a:defRPr/>
            </a:pPr>
            <a:r>
              <a:rPr lang="en-US" sz="1200" b="0" i="0" dirty="0">
                <a:solidFill>
                  <a:srgbClr val="343541"/>
                </a:solidFill>
                <a:effectLst/>
                <a:latin typeface="Söhne"/>
              </a:rPr>
              <a:t>But that's not all. You can also </a:t>
            </a:r>
            <a:r>
              <a:rPr lang="en-US" sz="1200" b="0" i="0" dirty="0">
                <a:solidFill>
                  <a:srgbClr val="00B0F0"/>
                </a:solidFill>
                <a:effectLst/>
                <a:latin typeface="Söhne"/>
              </a:rPr>
              <a:t>voice control your compatible </a:t>
            </a:r>
            <a:r>
              <a:rPr lang="en-US" sz="1200" b="0" i="0" dirty="0">
                <a:solidFill>
                  <a:srgbClr val="343541"/>
                </a:solidFill>
                <a:effectLst/>
                <a:latin typeface="Söhne"/>
              </a:rPr>
              <a:t>smart appliances like lights, ACs, TVs and geysers with Alexa. And if you have </a:t>
            </a:r>
            <a:r>
              <a:rPr lang="en-US" sz="1200" b="0" i="0" dirty="0">
                <a:solidFill>
                  <a:srgbClr val="00B0F0"/>
                </a:solidFill>
                <a:effectLst/>
                <a:latin typeface="Söhne"/>
              </a:rPr>
              <a:t>non-smart appliances, you can use smart plugs </a:t>
            </a:r>
            <a:r>
              <a:rPr lang="en-US" sz="1200" b="0" i="0" dirty="0">
                <a:solidFill>
                  <a:srgbClr val="343541"/>
                </a:solidFill>
                <a:effectLst/>
                <a:latin typeface="Söhne"/>
              </a:rPr>
              <a:t>to make them work with Alexa too.</a:t>
            </a:r>
          </a:p>
          <a:p>
            <a:pPr marR="0" lvl="0" algn="l" defTabSz="914400" rtl="0" eaLnBrk="1" fontAlgn="auto" latinLnBrk="0" hangingPunct="1">
              <a:lnSpc>
                <a:spcPct val="100000"/>
              </a:lnSpc>
              <a:spcBef>
                <a:spcPts val="0"/>
              </a:spcBef>
              <a:spcAft>
                <a:spcPts val="0"/>
              </a:spcAft>
              <a:buClrTx/>
              <a:buSzTx/>
              <a:tabLst/>
              <a:defRPr/>
            </a:pPr>
            <a:endParaRPr lang="en-US" sz="1200" dirty="0">
              <a:solidFill>
                <a:srgbClr val="343541"/>
              </a:solidFill>
              <a:latin typeface="Söhne"/>
            </a:endParaRPr>
          </a:p>
          <a:p>
            <a:pPr marR="0" lvl="0" algn="l" defTabSz="914400" rtl="0" eaLnBrk="1" fontAlgn="auto" latinLnBrk="0" hangingPunct="1">
              <a:lnSpc>
                <a:spcPct val="100000"/>
              </a:lnSpc>
              <a:spcBef>
                <a:spcPts val="0"/>
              </a:spcBef>
              <a:spcAft>
                <a:spcPts val="0"/>
              </a:spcAft>
              <a:buClrTx/>
              <a:buSzTx/>
              <a:tabLst/>
              <a:defRPr/>
            </a:pPr>
            <a:r>
              <a:rPr lang="en-US" sz="1200" b="0" i="0" dirty="0">
                <a:solidFill>
                  <a:srgbClr val="343541"/>
                </a:solidFill>
                <a:effectLst/>
                <a:latin typeface="Söhne"/>
              </a:rPr>
              <a:t>Create automated routines using </a:t>
            </a:r>
            <a:r>
              <a:rPr lang="en-US" sz="1200" b="0" i="0" dirty="0">
                <a:solidFill>
                  <a:srgbClr val="00B0F0"/>
                </a:solidFill>
                <a:effectLst/>
                <a:latin typeface="Söhne"/>
              </a:rPr>
              <a:t>ultrasound motion detection</a:t>
            </a:r>
            <a:r>
              <a:rPr lang="en-US" sz="1200" b="0" i="0" dirty="0">
                <a:solidFill>
                  <a:srgbClr val="343541"/>
                </a:solidFill>
                <a:effectLst/>
                <a:latin typeface="Söhne"/>
              </a:rPr>
              <a:t> to turn on the lights as soon as you enter the room and utilize the </a:t>
            </a:r>
            <a:r>
              <a:rPr lang="en-US" sz="1200" b="0" i="0" dirty="0">
                <a:solidFill>
                  <a:srgbClr val="00B0F0"/>
                </a:solidFill>
                <a:effectLst/>
                <a:latin typeface="Söhne"/>
              </a:rPr>
              <a:t>temperature sensor </a:t>
            </a:r>
            <a:r>
              <a:rPr lang="en-US" sz="1200" b="0" i="0" dirty="0">
                <a:solidFill>
                  <a:srgbClr val="343541"/>
                </a:solidFill>
                <a:effectLst/>
                <a:latin typeface="Söhne"/>
              </a:rPr>
              <a:t>to trigger the AC when changes in temperature are detected.</a:t>
            </a:r>
          </a:p>
          <a:p>
            <a:pPr marR="0" lvl="0" algn="l" defTabSz="914400" rtl="0" eaLnBrk="1" fontAlgn="auto" latinLnBrk="0" hangingPunct="1">
              <a:lnSpc>
                <a:spcPct val="100000"/>
              </a:lnSpc>
              <a:spcBef>
                <a:spcPts val="0"/>
              </a:spcBef>
              <a:spcAft>
                <a:spcPts val="0"/>
              </a:spcAft>
              <a:buClrTx/>
              <a:buSzTx/>
              <a:tabLst/>
              <a:defRPr/>
            </a:pPr>
            <a:endParaRPr lang="en-US" sz="1200" b="0" i="0" dirty="0">
              <a:solidFill>
                <a:srgbClr val="343541"/>
              </a:solidFill>
              <a:effectLst/>
              <a:latin typeface="Söhne"/>
            </a:endParaRPr>
          </a:p>
          <a:p>
            <a:pPr>
              <a:defRPr/>
            </a:pPr>
            <a:r>
              <a:rPr lang="en-US" sz="1200" b="0" i="0" dirty="0">
                <a:solidFill>
                  <a:srgbClr val="343541"/>
                </a:solidFill>
                <a:effectLst/>
                <a:latin typeface="Söhne"/>
              </a:rPr>
              <a:t>And if you need to pause or resume music, snooze alarms or dismiss timers, </a:t>
            </a:r>
            <a:r>
              <a:rPr lang="en-US" sz="1200" b="0" i="0" dirty="0">
                <a:solidFill>
                  <a:srgbClr val="00B0F0"/>
                </a:solidFill>
                <a:effectLst/>
                <a:latin typeface="Söhne"/>
              </a:rPr>
              <a:t>you can just tap on the Echo Dot</a:t>
            </a:r>
            <a:r>
              <a:rPr lang="en-US" sz="1200" b="0" i="0" dirty="0">
                <a:solidFill>
                  <a:srgbClr val="343541"/>
                </a:solidFill>
                <a:effectLst/>
                <a:latin typeface="Söhne"/>
              </a:rPr>
              <a:t>. No need to use your voice every time.</a:t>
            </a:r>
          </a:p>
          <a:p>
            <a:pPr marR="0" lvl="0" algn="l" defTabSz="914400" rtl="0" eaLnBrk="1" fontAlgn="auto" latinLnBrk="0" hangingPunct="1">
              <a:lnSpc>
                <a:spcPct val="100000"/>
              </a:lnSpc>
              <a:spcBef>
                <a:spcPts val="0"/>
              </a:spcBef>
              <a:spcAft>
                <a:spcPts val="0"/>
              </a:spcAft>
              <a:buClrTx/>
              <a:buSzTx/>
              <a:tabLst/>
              <a:defRPr/>
            </a:pPr>
            <a:endParaRPr lang="en-US" sz="1200" b="0" i="0" dirty="0">
              <a:solidFill>
                <a:srgbClr val="343541"/>
              </a:solidFill>
              <a:effectLst/>
              <a:latin typeface="Söhne"/>
            </a:endParaRPr>
          </a:p>
          <a:p>
            <a:pPr marR="0" lvl="0" algn="l" defTabSz="914400" rtl="0" eaLnBrk="1" fontAlgn="auto" latinLnBrk="0" hangingPunct="1">
              <a:lnSpc>
                <a:spcPct val="100000"/>
              </a:lnSpc>
              <a:spcBef>
                <a:spcPts val="0"/>
              </a:spcBef>
              <a:spcAft>
                <a:spcPts val="0"/>
              </a:spcAft>
              <a:buClrTx/>
              <a:buSzTx/>
              <a:tabLst/>
              <a:defRPr/>
            </a:pPr>
            <a:r>
              <a:rPr lang="en-US" sz="1200" b="0" i="0" dirty="0">
                <a:solidFill>
                  <a:srgbClr val="343541"/>
                </a:solidFill>
                <a:effectLst/>
                <a:latin typeface="Söhne"/>
              </a:rPr>
              <a:t>Alexa can also </a:t>
            </a:r>
            <a:r>
              <a:rPr lang="en-US" sz="1200" b="0" i="0" dirty="0">
                <a:solidFill>
                  <a:srgbClr val="00B0F0"/>
                </a:solidFill>
                <a:effectLst/>
                <a:latin typeface="Söhne"/>
              </a:rPr>
              <a:t>help you manage your day better</a:t>
            </a:r>
            <a:r>
              <a:rPr lang="en-US" sz="1200" b="0" i="0" dirty="0">
                <a:solidFill>
                  <a:srgbClr val="343541"/>
                </a:solidFill>
                <a:effectLst/>
                <a:latin typeface="Söhne"/>
              </a:rPr>
              <a:t> by setting reminders, paying bills, adding items to shopping list and much more. And </a:t>
            </a:r>
            <a:r>
              <a:rPr lang="en-US" sz="1200" b="0" i="0" dirty="0">
                <a:solidFill>
                  <a:srgbClr val="00B0F0"/>
                </a:solidFill>
                <a:effectLst/>
                <a:latin typeface="Söhne"/>
              </a:rPr>
              <a:t>Alexa can speak English and Hindi for your convenience.</a:t>
            </a:r>
          </a:p>
          <a:p>
            <a:pPr marR="0" lvl="0" algn="l" defTabSz="914400" rtl="0" eaLnBrk="1" fontAlgn="auto" latinLnBrk="0" hangingPunct="1">
              <a:lnSpc>
                <a:spcPct val="100000"/>
              </a:lnSpc>
              <a:spcBef>
                <a:spcPts val="0"/>
              </a:spcBef>
              <a:spcAft>
                <a:spcPts val="0"/>
              </a:spcAft>
              <a:buClrTx/>
              <a:buSzTx/>
              <a:tabLst/>
              <a:defRPr/>
            </a:pPr>
            <a:endParaRPr lang="en-US" sz="1200" b="0" i="0" dirty="0">
              <a:solidFill>
                <a:srgbClr val="343541"/>
              </a:solidFill>
              <a:effectLst/>
              <a:latin typeface="Söhne"/>
            </a:endParaRPr>
          </a:p>
          <a:p>
            <a:pPr marR="0" lvl="0" algn="l" defTabSz="914400" rtl="0" eaLnBrk="1" fontAlgn="auto" latinLnBrk="0" hangingPunct="1">
              <a:lnSpc>
                <a:spcPct val="100000"/>
              </a:lnSpc>
              <a:spcBef>
                <a:spcPts val="0"/>
              </a:spcBef>
              <a:spcAft>
                <a:spcPts val="0"/>
              </a:spcAft>
              <a:buClrTx/>
              <a:buSzTx/>
              <a:tabLst/>
              <a:defRPr/>
            </a:pPr>
            <a:r>
              <a:rPr lang="en-US" sz="1200" b="0" i="0" dirty="0">
                <a:solidFill>
                  <a:srgbClr val="343541"/>
                </a:solidFill>
                <a:effectLst/>
                <a:latin typeface="Söhne"/>
              </a:rPr>
              <a:t>The Echo Dot 5th Gen is also </a:t>
            </a:r>
            <a:r>
              <a:rPr lang="en-US" sz="1200" b="0" i="0" dirty="0">
                <a:solidFill>
                  <a:srgbClr val="00B0F0"/>
                </a:solidFill>
                <a:effectLst/>
                <a:latin typeface="Söhne"/>
              </a:rPr>
              <a:t>designed with your privacy in mind</a:t>
            </a:r>
            <a:r>
              <a:rPr lang="en-US" sz="1200" b="0" i="0" dirty="0">
                <a:solidFill>
                  <a:srgbClr val="343541"/>
                </a:solidFill>
                <a:effectLst/>
                <a:latin typeface="Söhne"/>
              </a:rPr>
              <a:t>. It comes with </a:t>
            </a:r>
            <a:r>
              <a:rPr lang="en-US" sz="1200" b="0" i="0" dirty="0">
                <a:solidFill>
                  <a:srgbClr val="00B0F0"/>
                </a:solidFill>
                <a:effectLst/>
                <a:latin typeface="Söhne"/>
              </a:rPr>
              <a:t>multiple privacy controls, including a mic off button that disconnects the microphone electronically</a:t>
            </a:r>
          </a:p>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145A36-25BC-4AEF-92EC-615DB129398E}"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43089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To summarize our learning, the Echo Dot 5th Gen boasts an improved speaker system with 10% larger driver and up to 2x more bass for a dynamic audio experience. It also features advanced technology such as ultrasound motion detection and temperature sensors to automatically trigger routines, as well as tap gesture controls for ease of use. The better mic comprehension ensures better listening and response, while built-in Alexa privacy settings allow for easy control of microphone access and deletion of voice recordings. Overall, the Echo Dot 5th Gen is a smart and innovative addition to any home.</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145A36-25BC-4AEF-92EC-615DB129398E}"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9166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2777C-9E9A-1088-E8C6-4E4009957D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7DC224B-3953-F244-C66F-DB104D1F75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FBB0A81-2EAD-5E20-C52C-D3E1A9D3A032}"/>
              </a:ext>
            </a:extLst>
          </p:cNvPr>
          <p:cNvSpPr>
            <a:spLocks noGrp="1"/>
          </p:cNvSpPr>
          <p:nvPr>
            <p:ph type="dt" sz="half" idx="10"/>
          </p:nvPr>
        </p:nvSpPr>
        <p:spPr/>
        <p:txBody>
          <a:bodyPr/>
          <a:lstStyle/>
          <a:p>
            <a:fld id="{99C11E3B-E6BC-42AA-ADB2-E5B1B3852B4E}" type="datetimeFigureOut">
              <a:rPr lang="en-IN" smtClean="0"/>
              <a:t>27/05/25</a:t>
            </a:fld>
            <a:endParaRPr lang="en-IN"/>
          </a:p>
        </p:txBody>
      </p:sp>
      <p:sp>
        <p:nvSpPr>
          <p:cNvPr id="5" name="Footer Placeholder 4">
            <a:extLst>
              <a:ext uri="{FF2B5EF4-FFF2-40B4-BE49-F238E27FC236}">
                <a16:creationId xmlns:a16="http://schemas.microsoft.com/office/drawing/2014/main" id="{839CB925-C0DC-3B37-7E2C-1229E62AA0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393C6D-3759-1946-42C4-A3C5F2684C2D}"/>
              </a:ext>
            </a:extLst>
          </p:cNvPr>
          <p:cNvSpPr>
            <a:spLocks noGrp="1"/>
          </p:cNvSpPr>
          <p:nvPr>
            <p:ph type="sldNum" sz="quarter" idx="12"/>
          </p:nvPr>
        </p:nvSpPr>
        <p:spPr/>
        <p:txBody>
          <a:bodyPr/>
          <a:lstStyle/>
          <a:p>
            <a:fld id="{9C9B7C7B-9C85-4E76-B732-C2BF4751E073}" type="slidenum">
              <a:rPr lang="en-IN" smtClean="0"/>
              <a:t>‹#›</a:t>
            </a:fld>
            <a:endParaRPr lang="en-IN"/>
          </a:p>
        </p:txBody>
      </p:sp>
    </p:spTree>
    <p:extLst>
      <p:ext uri="{BB962C8B-B14F-4D97-AF65-F5344CB8AC3E}">
        <p14:creationId xmlns:p14="http://schemas.microsoft.com/office/powerpoint/2010/main" val="1088628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8930D-B180-4712-97F0-3FBC63CA257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552969-ADD2-4BD4-C85F-058EB42484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D98CF6-D18B-3F8D-6024-6321234A76BE}"/>
              </a:ext>
            </a:extLst>
          </p:cNvPr>
          <p:cNvSpPr>
            <a:spLocks noGrp="1"/>
          </p:cNvSpPr>
          <p:nvPr>
            <p:ph type="dt" sz="half" idx="10"/>
          </p:nvPr>
        </p:nvSpPr>
        <p:spPr/>
        <p:txBody>
          <a:bodyPr/>
          <a:lstStyle/>
          <a:p>
            <a:fld id="{99C11E3B-E6BC-42AA-ADB2-E5B1B3852B4E}" type="datetimeFigureOut">
              <a:rPr lang="en-IN" smtClean="0"/>
              <a:t>27/05/25</a:t>
            </a:fld>
            <a:endParaRPr lang="en-IN"/>
          </a:p>
        </p:txBody>
      </p:sp>
      <p:sp>
        <p:nvSpPr>
          <p:cNvPr id="5" name="Footer Placeholder 4">
            <a:extLst>
              <a:ext uri="{FF2B5EF4-FFF2-40B4-BE49-F238E27FC236}">
                <a16:creationId xmlns:a16="http://schemas.microsoft.com/office/drawing/2014/main" id="{821CC484-E23B-04AF-6C7D-815378D1C2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CFFAB9-2244-7BEF-D8FE-DA2EDD560FF8}"/>
              </a:ext>
            </a:extLst>
          </p:cNvPr>
          <p:cNvSpPr>
            <a:spLocks noGrp="1"/>
          </p:cNvSpPr>
          <p:nvPr>
            <p:ph type="sldNum" sz="quarter" idx="12"/>
          </p:nvPr>
        </p:nvSpPr>
        <p:spPr/>
        <p:txBody>
          <a:bodyPr/>
          <a:lstStyle/>
          <a:p>
            <a:fld id="{9C9B7C7B-9C85-4E76-B732-C2BF4751E073}" type="slidenum">
              <a:rPr lang="en-IN" smtClean="0"/>
              <a:t>‹#›</a:t>
            </a:fld>
            <a:endParaRPr lang="en-IN"/>
          </a:p>
        </p:txBody>
      </p:sp>
    </p:spTree>
    <p:extLst>
      <p:ext uri="{BB962C8B-B14F-4D97-AF65-F5344CB8AC3E}">
        <p14:creationId xmlns:p14="http://schemas.microsoft.com/office/powerpoint/2010/main" val="1410656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2A7DF-6AE7-8AF7-D927-571F473E64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D7D84C4-F6AF-849E-64B5-17FB110CC76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A7204E-91E5-D3F6-AA51-830A2E04B3D3}"/>
              </a:ext>
            </a:extLst>
          </p:cNvPr>
          <p:cNvSpPr>
            <a:spLocks noGrp="1"/>
          </p:cNvSpPr>
          <p:nvPr>
            <p:ph type="dt" sz="half" idx="10"/>
          </p:nvPr>
        </p:nvSpPr>
        <p:spPr/>
        <p:txBody>
          <a:bodyPr/>
          <a:lstStyle/>
          <a:p>
            <a:fld id="{99C11E3B-E6BC-42AA-ADB2-E5B1B3852B4E}" type="datetimeFigureOut">
              <a:rPr lang="en-IN" smtClean="0"/>
              <a:t>27/05/25</a:t>
            </a:fld>
            <a:endParaRPr lang="en-IN"/>
          </a:p>
        </p:txBody>
      </p:sp>
      <p:sp>
        <p:nvSpPr>
          <p:cNvPr id="5" name="Footer Placeholder 4">
            <a:extLst>
              <a:ext uri="{FF2B5EF4-FFF2-40B4-BE49-F238E27FC236}">
                <a16:creationId xmlns:a16="http://schemas.microsoft.com/office/drawing/2014/main" id="{26674DD9-57E7-5DB2-D9B3-E371FCB4A1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400CF8-8F11-9921-1B95-605581CDC693}"/>
              </a:ext>
            </a:extLst>
          </p:cNvPr>
          <p:cNvSpPr>
            <a:spLocks noGrp="1"/>
          </p:cNvSpPr>
          <p:nvPr>
            <p:ph type="sldNum" sz="quarter" idx="12"/>
          </p:nvPr>
        </p:nvSpPr>
        <p:spPr/>
        <p:txBody>
          <a:bodyPr/>
          <a:lstStyle/>
          <a:p>
            <a:fld id="{9C9B7C7B-9C85-4E76-B732-C2BF4751E073}" type="slidenum">
              <a:rPr lang="en-IN" smtClean="0"/>
              <a:t>‹#›</a:t>
            </a:fld>
            <a:endParaRPr lang="en-IN"/>
          </a:p>
        </p:txBody>
      </p:sp>
    </p:spTree>
    <p:extLst>
      <p:ext uri="{BB962C8B-B14F-4D97-AF65-F5344CB8AC3E}">
        <p14:creationId xmlns:p14="http://schemas.microsoft.com/office/powerpoint/2010/main" val="2300958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D97BF-A489-A4CC-F8DA-51E19ECFAB7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91D5AA4-DA72-8ABF-CE4A-201B179B27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FE27C97-3E86-A7E9-8592-B4BBE20BAF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1CE1435-62A6-0E0F-A258-A84301F1AAEF}"/>
              </a:ext>
            </a:extLst>
          </p:cNvPr>
          <p:cNvSpPr>
            <a:spLocks noGrp="1"/>
          </p:cNvSpPr>
          <p:nvPr>
            <p:ph type="dt" sz="half" idx="10"/>
          </p:nvPr>
        </p:nvSpPr>
        <p:spPr/>
        <p:txBody>
          <a:bodyPr/>
          <a:lstStyle/>
          <a:p>
            <a:fld id="{99C11E3B-E6BC-42AA-ADB2-E5B1B3852B4E}" type="datetimeFigureOut">
              <a:rPr lang="en-IN" smtClean="0"/>
              <a:t>27/05/25</a:t>
            </a:fld>
            <a:endParaRPr lang="en-IN"/>
          </a:p>
        </p:txBody>
      </p:sp>
      <p:sp>
        <p:nvSpPr>
          <p:cNvPr id="6" name="Footer Placeholder 5">
            <a:extLst>
              <a:ext uri="{FF2B5EF4-FFF2-40B4-BE49-F238E27FC236}">
                <a16:creationId xmlns:a16="http://schemas.microsoft.com/office/drawing/2014/main" id="{8F26B0C6-4A66-359C-A700-82D39C0511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CDCF9E-C949-3523-BD73-EF9DF3CB6DC4}"/>
              </a:ext>
            </a:extLst>
          </p:cNvPr>
          <p:cNvSpPr>
            <a:spLocks noGrp="1"/>
          </p:cNvSpPr>
          <p:nvPr>
            <p:ph type="sldNum" sz="quarter" idx="12"/>
          </p:nvPr>
        </p:nvSpPr>
        <p:spPr/>
        <p:txBody>
          <a:bodyPr/>
          <a:lstStyle/>
          <a:p>
            <a:fld id="{9C9B7C7B-9C85-4E76-B732-C2BF4751E073}" type="slidenum">
              <a:rPr lang="en-IN" smtClean="0"/>
              <a:t>‹#›</a:t>
            </a:fld>
            <a:endParaRPr lang="en-IN"/>
          </a:p>
        </p:txBody>
      </p:sp>
    </p:spTree>
    <p:extLst>
      <p:ext uri="{BB962C8B-B14F-4D97-AF65-F5344CB8AC3E}">
        <p14:creationId xmlns:p14="http://schemas.microsoft.com/office/powerpoint/2010/main" val="842214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D85BA-C116-6E1C-A3E6-4EBA5482E5D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760CF2-3922-0B4A-539F-B534EAD196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2C9746-B070-DC25-20D8-1A0E788B4F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7A39D09-5032-3807-73BA-C63626E6CF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B995FF-E5E3-FE1A-0467-26020E8A6C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6A04E0D-F923-739C-DBDD-BB2E378B1AAF}"/>
              </a:ext>
            </a:extLst>
          </p:cNvPr>
          <p:cNvSpPr>
            <a:spLocks noGrp="1"/>
          </p:cNvSpPr>
          <p:nvPr>
            <p:ph type="dt" sz="half" idx="10"/>
          </p:nvPr>
        </p:nvSpPr>
        <p:spPr/>
        <p:txBody>
          <a:bodyPr/>
          <a:lstStyle/>
          <a:p>
            <a:fld id="{99C11E3B-E6BC-42AA-ADB2-E5B1B3852B4E}" type="datetimeFigureOut">
              <a:rPr lang="en-IN" smtClean="0"/>
              <a:t>27/05/25</a:t>
            </a:fld>
            <a:endParaRPr lang="en-IN"/>
          </a:p>
        </p:txBody>
      </p:sp>
      <p:sp>
        <p:nvSpPr>
          <p:cNvPr id="8" name="Footer Placeholder 7">
            <a:extLst>
              <a:ext uri="{FF2B5EF4-FFF2-40B4-BE49-F238E27FC236}">
                <a16:creationId xmlns:a16="http://schemas.microsoft.com/office/drawing/2014/main" id="{348C60E9-C38E-5DA5-72EA-0599A4B87B5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BE942FC-625C-CE03-4D5F-FBA5928F9622}"/>
              </a:ext>
            </a:extLst>
          </p:cNvPr>
          <p:cNvSpPr>
            <a:spLocks noGrp="1"/>
          </p:cNvSpPr>
          <p:nvPr>
            <p:ph type="sldNum" sz="quarter" idx="12"/>
          </p:nvPr>
        </p:nvSpPr>
        <p:spPr/>
        <p:txBody>
          <a:bodyPr/>
          <a:lstStyle/>
          <a:p>
            <a:fld id="{9C9B7C7B-9C85-4E76-B732-C2BF4751E073}" type="slidenum">
              <a:rPr lang="en-IN" smtClean="0"/>
              <a:t>‹#›</a:t>
            </a:fld>
            <a:endParaRPr lang="en-IN"/>
          </a:p>
        </p:txBody>
      </p:sp>
    </p:spTree>
    <p:extLst>
      <p:ext uri="{BB962C8B-B14F-4D97-AF65-F5344CB8AC3E}">
        <p14:creationId xmlns:p14="http://schemas.microsoft.com/office/powerpoint/2010/main" val="17805812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15064-8E21-592C-B765-48B4AB73C95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6DA411A-8354-09E8-86B7-95439BD60E92}"/>
              </a:ext>
            </a:extLst>
          </p:cNvPr>
          <p:cNvSpPr>
            <a:spLocks noGrp="1"/>
          </p:cNvSpPr>
          <p:nvPr>
            <p:ph type="dt" sz="half" idx="10"/>
          </p:nvPr>
        </p:nvSpPr>
        <p:spPr/>
        <p:txBody>
          <a:bodyPr/>
          <a:lstStyle/>
          <a:p>
            <a:fld id="{99C11E3B-E6BC-42AA-ADB2-E5B1B3852B4E}" type="datetimeFigureOut">
              <a:rPr lang="en-IN" smtClean="0"/>
              <a:t>27/05/25</a:t>
            </a:fld>
            <a:endParaRPr lang="en-IN"/>
          </a:p>
        </p:txBody>
      </p:sp>
      <p:sp>
        <p:nvSpPr>
          <p:cNvPr id="4" name="Footer Placeholder 3">
            <a:extLst>
              <a:ext uri="{FF2B5EF4-FFF2-40B4-BE49-F238E27FC236}">
                <a16:creationId xmlns:a16="http://schemas.microsoft.com/office/drawing/2014/main" id="{9884087C-2A3F-3D9A-F73E-97A46312905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E958373-177B-D12E-DE04-F2E982933D5D}"/>
              </a:ext>
            </a:extLst>
          </p:cNvPr>
          <p:cNvSpPr>
            <a:spLocks noGrp="1"/>
          </p:cNvSpPr>
          <p:nvPr>
            <p:ph type="sldNum" sz="quarter" idx="12"/>
          </p:nvPr>
        </p:nvSpPr>
        <p:spPr/>
        <p:txBody>
          <a:bodyPr/>
          <a:lstStyle/>
          <a:p>
            <a:fld id="{9C9B7C7B-9C85-4E76-B732-C2BF4751E073}" type="slidenum">
              <a:rPr lang="en-IN" smtClean="0"/>
              <a:t>‹#›</a:t>
            </a:fld>
            <a:endParaRPr lang="en-IN"/>
          </a:p>
        </p:txBody>
      </p:sp>
    </p:spTree>
    <p:extLst>
      <p:ext uri="{BB962C8B-B14F-4D97-AF65-F5344CB8AC3E}">
        <p14:creationId xmlns:p14="http://schemas.microsoft.com/office/powerpoint/2010/main" val="1037870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D3F361-B4EA-9289-6BD3-89435F50164B}"/>
              </a:ext>
            </a:extLst>
          </p:cNvPr>
          <p:cNvSpPr>
            <a:spLocks noGrp="1"/>
          </p:cNvSpPr>
          <p:nvPr>
            <p:ph type="dt" sz="half" idx="10"/>
          </p:nvPr>
        </p:nvSpPr>
        <p:spPr/>
        <p:txBody>
          <a:bodyPr/>
          <a:lstStyle/>
          <a:p>
            <a:fld id="{99C11E3B-E6BC-42AA-ADB2-E5B1B3852B4E}" type="datetimeFigureOut">
              <a:rPr lang="en-IN" smtClean="0"/>
              <a:t>27/05/25</a:t>
            </a:fld>
            <a:endParaRPr lang="en-IN"/>
          </a:p>
        </p:txBody>
      </p:sp>
      <p:sp>
        <p:nvSpPr>
          <p:cNvPr id="3" name="Footer Placeholder 2">
            <a:extLst>
              <a:ext uri="{FF2B5EF4-FFF2-40B4-BE49-F238E27FC236}">
                <a16:creationId xmlns:a16="http://schemas.microsoft.com/office/drawing/2014/main" id="{3018ED0A-288E-26F6-E1FC-C3D5752231F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A299476-BAFE-EEA9-604F-0EFB061DAA51}"/>
              </a:ext>
            </a:extLst>
          </p:cNvPr>
          <p:cNvSpPr>
            <a:spLocks noGrp="1"/>
          </p:cNvSpPr>
          <p:nvPr>
            <p:ph type="sldNum" sz="quarter" idx="12"/>
          </p:nvPr>
        </p:nvSpPr>
        <p:spPr/>
        <p:txBody>
          <a:bodyPr/>
          <a:lstStyle/>
          <a:p>
            <a:fld id="{9C9B7C7B-9C85-4E76-B732-C2BF4751E073}" type="slidenum">
              <a:rPr lang="en-IN" smtClean="0"/>
              <a:t>‹#›</a:t>
            </a:fld>
            <a:endParaRPr lang="en-IN"/>
          </a:p>
        </p:txBody>
      </p:sp>
    </p:spTree>
    <p:extLst>
      <p:ext uri="{BB962C8B-B14F-4D97-AF65-F5344CB8AC3E}">
        <p14:creationId xmlns:p14="http://schemas.microsoft.com/office/powerpoint/2010/main" val="1592688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8AC4A-0A3D-4ACD-D639-AA1A3E46EE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C33CA6F-F1A2-3C46-CB4A-5492EB09EB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547650-D688-02F7-A40A-1659B828A3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C29A4E-1E77-1101-82FA-65F4E892A2AB}"/>
              </a:ext>
            </a:extLst>
          </p:cNvPr>
          <p:cNvSpPr>
            <a:spLocks noGrp="1"/>
          </p:cNvSpPr>
          <p:nvPr>
            <p:ph type="dt" sz="half" idx="10"/>
          </p:nvPr>
        </p:nvSpPr>
        <p:spPr/>
        <p:txBody>
          <a:bodyPr/>
          <a:lstStyle/>
          <a:p>
            <a:fld id="{99C11E3B-E6BC-42AA-ADB2-E5B1B3852B4E}" type="datetimeFigureOut">
              <a:rPr lang="en-IN" smtClean="0"/>
              <a:t>27/05/25</a:t>
            </a:fld>
            <a:endParaRPr lang="en-IN"/>
          </a:p>
        </p:txBody>
      </p:sp>
      <p:sp>
        <p:nvSpPr>
          <p:cNvPr id="6" name="Footer Placeholder 5">
            <a:extLst>
              <a:ext uri="{FF2B5EF4-FFF2-40B4-BE49-F238E27FC236}">
                <a16:creationId xmlns:a16="http://schemas.microsoft.com/office/drawing/2014/main" id="{F8BB3981-51BF-9CE2-2B6A-5BC6C2A394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E11793-6293-0798-CEAC-5BAAFDE9E28C}"/>
              </a:ext>
            </a:extLst>
          </p:cNvPr>
          <p:cNvSpPr>
            <a:spLocks noGrp="1"/>
          </p:cNvSpPr>
          <p:nvPr>
            <p:ph type="sldNum" sz="quarter" idx="12"/>
          </p:nvPr>
        </p:nvSpPr>
        <p:spPr/>
        <p:txBody>
          <a:bodyPr/>
          <a:lstStyle/>
          <a:p>
            <a:fld id="{9C9B7C7B-9C85-4E76-B732-C2BF4751E073}" type="slidenum">
              <a:rPr lang="en-IN" smtClean="0"/>
              <a:t>‹#›</a:t>
            </a:fld>
            <a:endParaRPr lang="en-IN"/>
          </a:p>
        </p:txBody>
      </p:sp>
    </p:spTree>
    <p:extLst>
      <p:ext uri="{BB962C8B-B14F-4D97-AF65-F5344CB8AC3E}">
        <p14:creationId xmlns:p14="http://schemas.microsoft.com/office/powerpoint/2010/main" val="3551205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0C161-6520-B632-2E96-64C13928A7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E57A4D1-10B1-EB13-F2FB-5C4578DC04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3BAB687-7366-EBEE-2996-0BF2FD981E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7BF6A9-1249-BA45-BC4D-90B220853192}"/>
              </a:ext>
            </a:extLst>
          </p:cNvPr>
          <p:cNvSpPr>
            <a:spLocks noGrp="1"/>
          </p:cNvSpPr>
          <p:nvPr>
            <p:ph type="dt" sz="half" idx="10"/>
          </p:nvPr>
        </p:nvSpPr>
        <p:spPr/>
        <p:txBody>
          <a:bodyPr/>
          <a:lstStyle/>
          <a:p>
            <a:fld id="{99C11E3B-E6BC-42AA-ADB2-E5B1B3852B4E}" type="datetimeFigureOut">
              <a:rPr lang="en-IN" smtClean="0"/>
              <a:t>27/05/25</a:t>
            </a:fld>
            <a:endParaRPr lang="en-IN"/>
          </a:p>
        </p:txBody>
      </p:sp>
      <p:sp>
        <p:nvSpPr>
          <p:cNvPr id="6" name="Footer Placeholder 5">
            <a:extLst>
              <a:ext uri="{FF2B5EF4-FFF2-40B4-BE49-F238E27FC236}">
                <a16:creationId xmlns:a16="http://schemas.microsoft.com/office/drawing/2014/main" id="{3FC16E5E-E2E6-9FE1-ED09-FEA3C3F0B0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68870FE-313A-9CCE-01DA-CF99B2159413}"/>
              </a:ext>
            </a:extLst>
          </p:cNvPr>
          <p:cNvSpPr>
            <a:spLocks noGrp="1"/>
          </p:cNvSpPr>
          <p:nvPr>
            <p:ph type="sldNum" sz="quarter" idx="12"/>
          </p:nvPr>
        </p:nvSpPr>
        <p:spPr/>
        <p:txBody>
          <a:bodyPr/>
          <a:lstStyle/>
          <a:p>
            <a:fld id="{9C9B7C7B-9C85-4E76-B732-C2BF4751E073}" type="slidenum">
              <a:rPr lang="en-IN" smtClean="0"/>
              <a:t>‹#›</a:t>
            </a:fld>
            <a:endParaRPr lang="en-IN"/>
          </a:p>
        </p:txBody>
      </p:sp>
    </p:spTree>
    <p:extLst>
      <p:ext uri="{BB962C8B-B14F-4D97-AF65-F5344CB8AC3E}">
        <p14:creationId xmlns:p14="http://schemas.microsoft.com/office/powerpoint/2010/main" val="589954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B26F3-260B-4CFE-1C58-F3CE53B2A80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EF7E97-360A-91FC-486E-791A2F2A13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00309C-405F-D75C-BFD4-843142321FD7}"/>
              </a:ext>
            </a:extLst>
          </p:cNvPr>
          <p:cNvSpPr>
            <a:spLocks noGrp="1"/>
          </p:cNvSpPr>
          <p:nvPr>
            <p:ph type="dt" sz="half" idx="10"/>
          </p:nvPr>
        </p:nvSpPr>
        <p:spPr/>
        <p:txBody>
          <a:bodyPr/>
          <a:lstStyle/>
          <a:p>
            <a:fld id="{99C11E3B-E6BC-42AA-ADB2-E5B1B3852B4E}" type="datetimeFigureOut">
              <a:rPr lang="en-IN" smtClean="0"/>
              <a:t>27/05/25</a:t>
            </a:fld>
            <a:endParaRPr lang="en-IN"/>
          </a:p>
        </p:txBody>
      </p:sp>
      <p:sp>
        <p:nvSpPr>
          <p:cNvPr id="5" name="Footer Placeholder 4">
            <a:extLst>
              <a:ext uri="{FF2B5EF4-FFF2-40B4-BE49-F238E27FC236}">
                <a16:creationId xmlns:a16="http://schemas.microsoft.com/office/drawing/2014/main" id="{DBCA48CF-CA51-C03F-C45C-D6F2E8FF54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AA9D01-6B28-9B07-B462-D68E6D6FF243}"/>
              </a:ext>
            </a:extLst>
          </p:cNvPr>
          <p:cNvSpPr>
            <a:spLocks noGrp="1"/>
          </p:cNvSpPr>
          <p:nvPr>
            <p:ph type="sldNum" sz="quarter" idx="12"/>
          </p:nvPr>
        </p:nvSpPr>
        <p:spPr/>
        <p:txBody>
          <a:bodyPr/>
          <a:lstStyle/>
          <a:p>
            <a:fld id="{9C9B7C7B-9C85-4E76-B732-C2BF4751E073}" type="slidenum">
              <a:rPr lang="en-IN" smtClean="0"/>
              <a:t>‹#›</a:t>
            </a:fld>
            <a:endParaRPr lang="en-IN"/>
          </a:p>
        </p:txBody>
      </p:sp>
    </p:spTree>
    <p:extLst>
      <p:ext uri="{BB962C8B-B14F-4D97-AF65-F5344CB8AC3E}">
        <p14:creationId xmlns:p14="http://schemas.microsoft.com/office/powerpoint/2010/main" val="3282289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CDA55D-DA9A-6094-1B2F-999AA0DD3DB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702CBAF-B775-11EE-02C3-020057D437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ED38DC-6211-C7F4-620F-76EB3462405C}"/>
              </a:ext>
            </a:extLst>
          </p:cNvPr>
          <p:cNvSpPr>
            <a:spLocks noGrp="1"/>
          </p:cNvSpPr>
          <p:nvPr>
            <p:ph type="dt" sz="half" idx="10"/>
          </p:nvPr>
        </p:nvSpPr>
        <p:spPr/>
        <p:txBody>
          <a:bodyPr/>
          <a:lstStyle/>
          <a:p>
            <a:fld id="{99C11E3B-E6BC-42AA-ADB2-E5B1B3852B4E}" type="datetimeFigureOut">
              <a:rPr lang="en-IN" smtClean="0"/>
              <a:t>27/05/25</a:t>
            </a:fld>
            <a:endParaRPr lang="en-IN"/>
          </a:p>
        </p:txBody>
      </p:sp>
      <p:sp>
        <p:nvSpPr>
          <p:cNvPr id="5" name="Footer Placeholder 4">
            <a:extLst>
              <a:ext uri="{FF2B5EF4-FFF2-40B4-BE49-F238E27FC236}">
                <a16:creationId xmlns:a16="http://schemas.microsoft.com/office/drawing/2014/main" id="{4FAF9EBA-165A-BA78-C31A-882B71A3FA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FCD90F-1D27-BF74-A481-DDABA0DDDF13}"/>
              </a:ext>
            </a:extLst>
          </p:cNvPr>
          <p:cNvSpPr>
            <a:spLocks noGrp="1"/>
          </p:cNvSpPr>
          <p:nvPr>
            <p:ph type="sldNum" sz="quarter" idx="12"/>
          </p:nvPr>
        </p:nvSpPr>
        <p:spPr/>
        <p:txBody>
          <a:bodyPr/>
          <a:lstStyle/>
          <a:p>
            <a:fld id="{9C9B7C7B-9C85-4E76-B732-C2BF4751E073}" type="slidenum">
              <a:rPr lang="en-IN" smtClean="0"/>
              <a:t>‹#›</a:t>
            </a:fld>
            <a:endParaRPr lang="en-IN"/>
          </a:p>
        </p:txBody>
      </p:sp>
    </p:spTree>
    <p:extLst>
      <p:ext uri="{BB962C8B-B14F-4D97-AF65-F5344CB8AC3E}">
        <p14:creationId xmlns:p14="http://schemas.microsoft.com/office/powerpoint/2010/main" val="5133122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EEA17F-6F07-2C8D-7F5E-34244C6B02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A07EC5E-8842-F52F-793A-CFDA2AE443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D816F9-BD48-9B48-C71D-05450DC7C2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C11E3B-E6BC-42AA-ADB2-E5B1B3852B4E}" type="datetimeFigureOut">
              <a:rPr lang="en-IN" smtClean="0"/>
              <a:t>27/05/25</a:t>
            </a:fld>
            <a:endParaRPr lang="en-IN"/>
          </a:p>
        </p:txBody>
      </p:sp>
      <p:sp>
        <p:nvSpPr>
          <p:cNvPr id="5" name="Footer Placeholder 4">
            <a:extLst>
              <a:ext uri="{FF2B5EF4-FFF2-40B4-BE49-F238E27FC236}">
                <a16:creationId xmlns:a16="http://schemas.microsoft.com/office/drawing/2014/main" id="{4DDBB227-919A-8446-7EF2-9C221674A5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2D1875F-26A0-9061-A7C0-BFFC8AAD33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C9B7C7B-9C85-4E76-B732-C2BF4751E073}" type="slidenum">
              <a:rPr lang="en-IN" smtClean="0"/>
              <a:t>‹#›</a:t>
            </a:fld>
            <a:endParaRPr lang="en-IN"/>
          </a:p>
        </p:txBody>
      </p:sp>
    </p:spTree>
    <p:extLst>
      <p:ext uri="{BB962C8B-B14F-4D97-AF65-F5344CB8AC3E}">
        <p14:creationId xmlns:p14="http://schemas.microsoft.com/office/powerpoint/2010/main" val="1194731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E5E4A02B-DAF1-485C-AAFD-9D03A81849B9}"/>
              </a:ext>
            </a:extLst>
          </p:cNvPr>
          <p:cNvSpPr txBox="1"/>
          <p:nvPr/>
        </p:nvSpPr>
        <p:spPr>
          <a:xfrm>
            <a:off x="739129" y="4458563"/>
            <a:ext cx="4384474" cy="369332"/>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Bigger sound, Smarter controls</a:t>
            </a:r>
            <a:endParaRPr kumimoji="0" lang="en-US" sz="9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endParaRPr>
          </a:p>
        </p:txBody>
      </p:sp>
      <p:pic>
        <p:nvPicPr>
          <p:cNvPr id="1026" name="Picture 2">
            <a:extLst>
              <a:ext uri="{FF2B5EF4-FFF2-40B4-BE49-F238E27FC236}">
                <a16:creationId xmlns:a16="http://schemas.microsoft.com/office/drawing/2014/main" id="{CC205DBA-B03A-EAF7-13A8-E99C50D361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C44C21E-39DF-04FF-EB17-38BE29E1BDF5}"/>
              </a:ext>
            </a:extLst>
          </p:cNvPr>
          <p:cNvSpPr txBox="1"/>
          <p:nvPr/>
        </p:nvSpPr>
        <p:spPr>
          <a:xfrm>
            <a:off x="739129" y="2704237"/>
            <a:ext cx="4384474" cy="1754326"/>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All-new </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Echo Dot</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a:t>
            </a:r>
            <a:r>
              <a:rPr lang="en-US" sz="2800" dirty="0">
                <a:solidFill>
                  <a:srgbClr val="00B0F0"/>
                </a:solidFill>
                <a:latin typeface="Arial" panose="020B0604020202020204" pitchFamily="34" charset="0"/>
                <a:cs typeface="Arial" panose="020B0604020202020204" pitchFamily="34" charset="0"/>
              </a:rPr>
              <a:t>5</a:t>
            </a:r>
            <a:r>
              <a:rPr kumimoji="0" lang="en-US" sz="2800" b="0" i="0" u="none" strike="noStrike" kern="1200" cap="none" spc="0" normalizeH="0" baseline="30000" noProof="0" dirty="0" err="1">
                <a:ln>
                  <a:noFill/>
                </a:ln>
                <a:solidFill>
                  <a:srgbClr val="00B0F0"/>
                </a:solidFill>
                <a:effectLst/>
                <a:uLnTx/>
                <a:uFillTx/>
                <a:latin typeface="Arial" panose="020B0604020202020204" pitchFamily="34" charset="0"/>
                <a:ea typeface="+mn-ea"/>
                <a:cs typeface="Arial" panose="020B0604020202020204" pitchFamily="34" charset="0"/>
              </a:rPr>
              <a:t>th</a:t>
            </a:r>
            <a:r>
              <a:rPr lang="en-US" sz="2800" dirty="0">
                <a:solidFill>
                  <a:srgbClr val="00B0F0"/>
                </a:solidFill>
                <a:latin typeface="Arial" panose="020B0604020202020204" pitchFamily="34" charset="0"/>
                <a:cs typeface="Arial" panose="020B0604020202020204" pitchFamily="34" charset="0"/>
              </a:rPr>
              <a:t> </a:t>
            </a:r>
            <a:r>
              <a:rPr kumimoji="0" lang="en-US" sz="28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Generation)</a:t>
            </a:r>
            <a:endParaRPr kumimoji="0" lang="en-US" sz="14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259190898"/>
      </p:ext>
    </p:extLst>
  </p:cSld>
  <p:clrMapOvr>
    <a:masterClrMapping/>
  </p:clrMapOvr>
  <mc:AlternateContent xmlns:mc="http://schemas.openxmlformats.org/markup-compatibility/2006" xmlns:p14="http://schemas.microsoft.com/office/powerpoint/2010/main">
    <mc:Choice Requires="p14">
      <p:transition p14:dur="0" advTm="832515"/>
    </mc:Choice>
    <mc:Fallback xmlns="">
      <p:transition advTm="83251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AB3C62F-6455-4FA1-AFC8-2A3D2205E908}"/>
              </a:ext>
            </a:extLst>
          </p:cNvPr>
          <p:cNvSpPr/>
          <p:nvPr/>
        </p:nvSpPr>
        <p:spPr>
          <a:xfrm>
            <a:off x="5890591" y="0"/>
            <a:ext cx="6301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DDD71843-B21B-46E1-8F2B-FE6171D57D87}"/>
              </a:ext>
            </a:extLst>
          </p:cNvPr>
          <p:cNvSpPr txBox="1"/>
          <p:nvPr/>
        </p:nvSpPr>
        <p:spPr>
          <a:xfrm>
            <a:off x="6011561" y="118610"/>
            <a:ext cx="618043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What’s new!</a:t>
            </a:r>
          </a:p>
        </p:txBody>
      </p:sp>
      <p:sp>
        <p:nvSpPr>
          <p:cNvPr id="7" name="TextBox 6">
            <a:extLst>
              <a:ext uri="{FF2B5EF4-FFF2-40B4-BE49-F238E27FC236}">
                <a16:creationId xmlns:a16="http://schemas.microsoft.com/office/drawing/2014/main" id="{3E07239C-73C0-457B-AA0E-0E7F8C1469EA}"/>
              </a:ext>
            </a:extLst>
          </p:cNvPr>
          <p:cNvSpPr txBox="1"/>
          <p:nvPr/>
        </p:nvSpPr>
        <p:spPr>
          <a:xfrm>
            <a:off x="6011561" y="1398401"/>
            <a:ext cx="6020973" cy="4708981"/>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Improved speaker system </a:t>
            </a: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with 10% larger speaker and up to 2x more bass.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Enable convenient </a:t>
            </a:r>
            <a:r>
              <a:rPr kumimoji="0" lang="en-US" sz="20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routines with ultrasound motion detection, </a:t>
            </a: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such as activating the lights when you enter the room.</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Create helpful routines with the </a:t>
            </a:r>
            <a:r>
              <a:rPr kumimoji="0" lang="en-US" sz="20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temperature sensor</a:t>
            </a: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 like </a:t>
            </a:r>
            <a:r>
              <a:rPr kumimoji="0" lang="en-US" sz="20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automatically turning on </a:t>
            </a: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the AC when the temperature rises above a certain threshold. Manage these routines effortlessly in the Alexa app.</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Effortlessly </a:t>
            </a:r>
            <a:r>
              <a:rPr kumimoji="0" lang="en-US" sz="20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pause or resume music or snooze alarms</a:t>
            </a: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 with a simple tap.</a:t>
            </a:r>
            <a:endParaRPr lang="en-US" sz="2000"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2050" name="Picture 2">
            <a:extLst>
              <a:ext uri="{FF2B5EF4-FFF2-40B4-BE49-F238E27FC236}">
                <a16:creationId xmlns:a16="http://schemas.microsoft.com/office/drawing/2014/main" id="{FCA2FF00-1D12-1524-2896-A154D7513A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89" y="517849"/>
            <a:ext cx="5822302" cy="5822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799720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AB3C62F-6455-4FA1-AFC8-2A3D2205E908}"/>
              </a:ext>
            </a:extLst>
          </p:cNvPr>
          <p:cNvSpPr/>
          <p:nvPr/>
        </p:nvSpPr>
        <p:spPr>
          <a:xfrm>
            <a:off x="5890591" y="0"/>
            <a:ext cx="6301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DDD71843-B21B-46E1-8F2B-FE6171D57D87}"/>
              </a:ext>
            </a:extLst>
          </p:cNvPr>
          <p:cNvSpPr txBox="1"/>
          <p:nvPr/>
        </p:nvSpPr>
        <p:spPr>
          <a:xfrm>
            <a:off x="6011561" y="118610"/>
            <a:ext cx="6180438"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Motion Detection and Temperature sensor</a:t>
            </a:r>
          </a:p>
        </p:txBody>
      </p:sp>
      <p:sp>
        <p:nvSpPr>
          <p:cNvPr id="7" name="TextBox 6">
            <a:extLst>
              <a:ext uri="{FF2B5EF4-FFF2-40B4-BE49-F238E27FC236}">
                <a16:creationId xmlns:a16="http://schemas.microsoft.com/office/drawing/2014/main" id="{3E07239C-73C0-457B-AA0E-0E7F8C1469EA}"/>
              </a:ext>
            </a:extLst>
          </p:cNvPr>
          <p:cNvSpPr txBox="1"/>
          <p:nvPr/>
        </p:nvSpPr>
        <p:spPr>
          <a:xfrm>
            <a:off x="6011561" y="1703201"/>
            <a:ext cx="6020973" cy="3477875"/>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Take your home automation to new level with</a:t>
            </a:r>
            <a:r>
              <a:rPr kumimoji="0" lang="en-US" sz="20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 Motion detection and temperature sensor</a:t>
            </a:r>
          </a:p>
          <a:p>
            <a:pPr marR="0" lvl="0" algn="l" defTabSz="914400" rtl="0" eaLnBrk="1" fontAlgn="auto" latinLnBrk="0" hangingPunct="1">
              <a:lnSpc>
                <a:spcPct val="100000"/>
              </a:lnSpc>
              <a:spcBef>
                <a:spcPts val="0"/>
              </a:spcBef>
              <a:spcAft>
                <a:spcPts val="0"/>
              </a:spcAft>
              <a:buClrTx/>
              <a:buSzTx/>
              <a:tabLst/>
              <a:defRPr/>
            </a:pPr>
            <a:endParaRPr lang="en-US" sz="2000" dirty="0">
              <a:solidFill>
                <a:srgbClr val="00B0F0"/>
              </a:solidFill>
              <a:latin typeface="Arial" panose="020B0604020202020204" pitchFamily="34" charset="0"/>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The </a:t>
            </a:r>
            <a:r>
              <a:rPr kumimoji="0" lang="en-US" sz="20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motion detection </a:t>
            </a: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feature will turn on/off </a:t>
            </a:r>
            <a:r>
              <a:rPr kumimoji="0" lang="en-US" sz="2000" b="0" i="0" u="none" strike="noStrike" kern="1200" cap="none" spc="0" normalizeH="0" baseline="0" noProof="0" dirty="0" err="1">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devic</a:t>
            </a:r>
            <a:r>
              <a:rPr lang="en-US" sz="2000" dirty="0">
                <a:solidFill>
                  <a:schemeClr val="tx1">
                    <a:lumMod val="75000"/>
                    <a:lumOff val="25000"/>
                  </a:schemeClr>
                </a:solidFill>
                <a:latin typeface="Arial" panose="020B0604020202020204" pitchFamily="34" charset="0"/>
                <a:cs typeface="Arial" panose="020B0604020202020204" pitchFamily="34" charset="0"/>
              </a:rPr>
              <a:t>e based on motions around the Echo</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solidFill>
                  <a:schemeClr val="tx1">
                    <a:lumMod val="75000"/>
                    <a:lumOff val="25000"/>
                  </a:schemeClr>
                </a:solidFill>
                <a:latin typeface="Arial" panose="020B0604020202020204" pitchFamily="34" charset="0"/>
                <a:cs typeface="Arial" panose="020B0604020202020204" pitchFamily="34" charset="0"/>
              </a:rPr>
              <a:t>The </a:t>
            </a:r>
            <a:r>
              <a:rPr lang="en-US" sz="2000" dirty="0">
                <a:solidFill>
                  <a:srgbClr val="00B0F0"/>
                </a:solidFill>
                <a:latin typeface="Arial" panose="020B0604020202020204" pitchFamily="34" charset="0"/>
                <a:cs typeface="Arial" panose="020B0604020202020204" pitchFamily="34" charset="0"/>
              </a:rPr>
              <a:t>Temperature sensor </a:t>
            </a:r>
            <a:r>
              <a:rPr lang="en-US" sz="2000" dirty="0">
                <a:solidFill>
                  <a:schemeClr val="tx1">
                    <a:lumMod val="75000"/>
                    <a:lumOff val="25000"/>
                  </a:schemeClr>
                </a:solidFill>
                <a:latin typeface="Arial" panose="020B0604020202020204" pitchFamily="34" charset="0"/>
                <a:cs typeface="Arial" panose="020B0604020202020204" pitchFamily="34" charset="0"/>
              </a:rPr>
              <a:t>will turn on/off the AC when it senses change in temperature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endParaRPr>
          </a:p>
          <a:p>
            <a:pPr marL="342900" indent="-342900">
              <a:buFont typeface="Arial" panose="020B0604020202020204" pitchFamily="34" charset="0"/>
              <a:buChar char="•"/>
              <a:defRPr/>
            </a:pP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Set-up routines by</a:t>
            </a:r>
            <a:r>
              <a:rPr kumimoji="0" lang="en-US" sz="20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 motion detection or change in temperature</a:t>
            </a:r>
          </a:p>
        </p:txBody>
      </p:sp>
      <p:pic>
        <p:nvPicPr>
          <p:cNvPr id="2" name="Picture 2">
            <a:extLst>
              <a:ext uri="{FF2B5EF4-FFF2-40B4-BE49-F238E27FC236}">
                <a16:creationId xmlns:a16="http://schemas.microsoft.com/office/drawing/2014/main" id="{FF08BA0A-6C41-3B3F-525D-79AFFA126E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83704"/>
            <a:ext cx="5890591" cy="5890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177053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AB3C62F-6455-4FA1-AFC8-2A3D2205E908}"/>
              </a:ext>
            </a:extLst>
          </p:cNvPr>
          <p:cNvSpPr/>
          <p:nvPr/>
        </p:nvSpPr>
        <p:spPr>
          <a:xfrm>
            <a:off x="5890591" y="0"/>
            <a:ext cx="6301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DDD71843-B21B-46E1-8F2B-FE6171D57D87}"/>
              </a:ext>
            </a:extLst>
          </p:cNvPr>
          <p:cNvSpPr txBox="1"/>
          <p:nvPr/>
        </p:nvSpPr>
        <p:spPr>
          <a:xfrm>
            <a:off x="6011561" y="118610"/>
            <a:ext cx="6180438"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What Is Ultrasound Motion Detection?</a:t>
            </a:r>
          </a:p>
        </p:txBody>
      </p:sp>
      <p:pic>
        <p:nvPicPr>
          <p:cNvPr id="1026" name="Picture 2" descr="The science behind ultrasonic motion sensing for Echo - Amazon Science">
            <a:extLst>
              <a:ext uri="{FF2B5EF4-FFF2-40B4-BE49-F238E27FC236}">
                <a16:creationId xmlns:a16="http://schemas.microsoft.com/office/drawing/2014/main" id="{7D034F69-3E14-8221-398E-0CD9F2DDE0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03201"/>
            <a:ext cx="5933564" cy="333763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85FEF54-90CA-6762-0A23-7B2A96B1B801}"/>
              </a:ext>
            </a:extLst>
          </p:cNvPr>
          <p:cNvSpPr txBox="1"/>
          <p:nvPr/>
        </p:nvSpPr>
        <p:spPr>
          <a:xfrm>
            <a:off x="6052295" y="1940855"/>
            <a:ext cx="6020973" cy="2862322"/>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Echo devices emit ultrasound and use microphones to detect motion near the device.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Motion detection is designed to detect major motion but may not detect minor motion.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Routines can start even when no occupancy is detected, such as turning off lights when the room is empty.</a:t>
            </a:r>
            <a:endParaRPr kumimoji="0" lang="en-US" sz="20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2696083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AB3C62F-6455-4FA1-AFC8-2A3D2205E908}"/>
              </a:ext>
            </a:extLst>
          </p:cNvPr>
          <p:cNvSpPr/>
          <p:nvPr/>
        </p:nvSpPr>
        <p:spPr>
          <a:xfrm>
            <a:off x="5890591" y="0"/>
            <a:ext cx="6301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DDD71843-B21B-46E1-8F2B-FE6171D57D87}"/>
              </a:ext>
            </a:extLst>
          </p:cNvPr>
          <p:cNvSpPr txBox="1"/>
          <p:nvPr/>
        </p:nvSpPr>
        <p:spPr>
          <a:xfrm>
            <a:off x="6011561" y="118610"/>
            <a:ext cx="5751814"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Points to note with Ultrasound motion detection </a:t>
            </a:r>
          </a:p>
        </p:txBody>
      </p:sp>
      <p:sp>
        <p:nvSpPr>
          <p:cNvPr id="5" name="TextBox 4">
            <a:extLst>
              <a:ext uri="{FF2B5EF4-FFF2-40B4-BE49-F238E27FC236}">
                <a16:creationId xmlns:a16="http://schemas.microsoft.com/office/drawing/2014/main" id="{885FEF54-90CA-6762-0A23-7B2A96B1B801}"/>
              </a:ext>
            </a:extLst>
          </p:cNvPr>
          <p:cNvSpPr txBox="1"/>
          <p:nvPr/>
        </p:nvSpPr>
        <p:spPr>
          <a:xfrm>
            <a:off x="5958019" y="1107079"/>
            <a:ext cx="6020973" cy="5632311"/>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Motion detection function suppresses routine triggers for 30 minutes after a routine has been activated.</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Routines will not activate again for 30 minutes, even if motion is detected during that time.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This feature prevents unnecessary activations of routines and provides a more seamless and efficient experience.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For example, a routine to turn on lights will not activate again for 30 minutes after it has been triggered.</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Similarly, a routine to turn off lights will only activate if no motion is detected for at least 30 minutes.</a:t>
            </a:r>
            <a:endParaRPr kumimoji="0" lang="en-US" sz="20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endParaRPr>
          </a:p>
        </p:txBody>
      </p:sp>
      <p:pic>
        <p:nvPicPr>
          <p:cNvPr id="2050" name="Picture 2" descr="Echo (4th generation) | Smart speaker with premium sound, smart home hub  and Alexa (Arabic or English)">
            <a:extLst>
              <a:ext uri="{FF2B5EF4-FFF2-40B4-BE49-F238E27FC236}">
                <a16:creationId xmlns:a16="http://schemas.microsoft.com/office/drawing/2014/main" id="{B516AE2E-CBAE-A304-BE2D-39463BDAA05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295" r="27295"/>
          <a:stretch/>
        </p:blipFill>
        <p:spPr bwMode="auto">
          <a:xfrm>
            <a:off x="752476" y="1047750"/>
            <a:ext cx="447675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68092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AB3C62F-6455-4FA1-AFC8-2A3D2205E908}"/>
              </a:ext>
            </a:extLst>
          </p:cNvPr>
          <p:cNvSpPr/>
          <p:nvPr/>
        </p:nvSpPr>
        <p:spPr>
          <a:xfrm>
            <a:off x="0" y="0"/>
            <a:ext cx="6301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DDD71843-B21B-46E1-8F2B-FE6171D57D87}"/>
              </a:ext>
            </a:extLst>
          </p:cNvPr>
          <p:cNvSpPr txBox="1"/>
          <p:nvPr/>
        </p:nvSpPr>
        <p:spPr>
          <a:xfrm>
            <a:off x="120970" y="118610"/>
            <a:ext cx="618043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Customer Profile for Echo Dot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5th Generation</a:t>
            </a:r>
          </a:p>
        </p:txBody>
      </p:sp>
      <p:sp>
        <p:nvSpPr>
          <p:cNvPr id="7" name="TextBox 6">
            <a:extLst>
              <a:ext uri="{FF2B5EF4-FFF2-40B4-BE49-F238E27FC236}">
                <a16:creationId xmlns:a16="http://schemas.microsoft.com/office/drawing/2014/main" id="{3E07239C-73C0-457B-AA0E-0E7F8C1469EA}"/>
              </a:ext>
            </a:extLst>
          </p:cNvPr>
          <p:cNvSpPr txBox="1"/>
          <p:nvPr/>
        </p:nvSpPr>
        <p:spPr>
          <a:xfrm>
            <a:off x="120970" y="2057765"/>
            <a:ext cx="6020973" cy="4093428"/>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Looking for an </a:t>
            </a:r>
            <a:r>
              <a:rPr kumimoji="0" lang="en-US" sz="20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entry level smart speaker</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Wants a smart speaker </a:t>
            </a:r>
            <a:r>
              <a:rPr kumimoji="0" lang="en-US" sz="20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with improved sound quality and deeper bass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Interested in using the </a:t>
            </a:r>
            <a:r>
              <a:rPr kumimoji="0" lang="en-US" sz="20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in-built motion detection and temperature sensor </a:t>
            </a: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for home </a:t>
            </a:r>
            <a:r>
              <a:rPr kumimoji="0" lang="en-US" sz="20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automation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Wants to </a:t>
            </a:r>
            <a:r>
              <a:rPr kumimoji="0" lang="en-US" sz="20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easily control music playback and other features</a:t>
            </a: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 with tap gestures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Interested in the latest technology and features offered by Echo Dot 5th gen.</a:t>
            </a:r>
            <a:endParaRPr kumimoji="0" lang="en-US" sz="20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endParaRPr>
          </a:p>
        </p:txBody>
      </p:sp>
      <p:pic>
        <p:nvPicPr>
          <p:cNvPr id="6" name="Picture 5">
            <a:extLst>
              <a:ext uri="{FF2B5EF4-FFF2-40B4-BE49-F238E27FC236}">
                <a16:creationId xmlns:a16="http://schemas.microsoft.com/office/drawing/2014/main" id="{4D740863-87D0-A7DC-BDDB-9B0215FBBE8C}"/>
              </a:ext>
            </a:extLst>
          </p:cNvPr>
          <p:cNvPicPr>
            <a:picLocks noChangeAspect="1"/>
          </p:cNvPicPr>
          <p:nvPr/>
        </p:nvPicPr>
        <p:blipFill>
          <a:blip r:embed="rId3"/>
          <a:stretch>
            <a:fillRect/>
          </a:stretch>
        </p:blipFill>
        <p:spPr>
          <a:xfrm>
            <a:off x="7066313" y="1193124"/>
            <a:ext cx="4549811" cy="4471751"/>
          </a:xfrm>
          <a:prstGeom prst="rect">
            <a:avLst/>
          </a:prstGeom>
        </p:spPr>
      </p:pic>
    </p:spTree>
    <p:extLst>
      <p:ext uri="{BB962C8B-B14F-4D97-AF65-F5344CB8AC3E}">
        <p14:creationId xmlns:p14="http://schemas.microsoft.com/office/powerpoint/2010/main" val="245634019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AB3C62F-6455-4FA1-AFC8-2A3D2205E908}"/>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DDD71843-B21B-46E1-8F2B-FE6171D57D87}"/>
              </a:ext>
            </a:extLst>
          </p:cNvPr>
          <p:cNvSpPr txBox="1"/>
          <p:nvPr/>
        </p:nvSpPr>
        <p:spPr>
          <a:xfrm>
            <a:off x="120970" y="118610"/>
            <a:ext cx="618652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60-second pitch for Echo Dot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5th Generation</a:t>
            </a:r>
          </a:p>
        </p:txBody>
      </p:sp>
      <p:sp>
        <p:nvSpPr>
          <p:cNvPr id="7" name="TextBox 6">
            <a:extLst>
              <a:ext uri="{FF2B5EF4-FFF2-40B4-BE49-F238E27FC236}">
                <a16:creationId xmlns:a16="http://schemas.microsoft.com/office/drawing/2014/main" id="{3E07239C-73C0-457B-AA0E-0E7F8C1469EA}"/>
              </a:ext>
            </a:extLst>
          </p:cNvPr>
          <p:cNvSpPr txBox="1"/>
          <p:nvPr/>
        </p:nvSpPr>
        <p:spPr>
          <a:xfrm>
            <a:off x="144133" y="1145551"/>
            <a:ext cx="11907390" cy="5632311"/>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lang="en-US" sz="2000" b="0" i="0" dirty="0">
                <a:solidFill>
                  <a:srgbClr val="343541"/>
                </a:solidFill>
                <a:effectLst/>
                <a:latin typeface="Söhne"/>
              </a:rPr>
              <a:t>Introducing the 5</a:t>
            </a:r>
            <a:r>
              <a:rPr lang="en-US" sz="2000" b="0" i="0" baseline="30000" dirty="0">
                <a:solidFill>
                  <a:srgbClr val="343541"/>
                </a:solidFill>
                <a:effectLst/>
                <a:latin typeface="Söhne"/>
              </a:rPr>
              <a:t>th</a:t>
            </a:r>
            <a:r>
              <a:rPr lang="en-US" sz="2000" b="0" i="0" dirty="0">
                <a:solidFill>
                  <a:srgbClr val="343541"/>
                </a:solidFill>
                <a:effectLst/>
                <a:latin typeface="Söhne"/>
              </a:rPr>
              <a:t> Generation Echo Dot with Alexa, </a:t>
            </a:r>
            <a:r>
              <a:rPr lang="en-US" sz="2000" b="0" i="0" dirty="0">
                <a:solidFill>
                  <a:srgbClr val="00B0F0"/>
                </a:solidFill>
                <a:effectLst/>
                <a:latin typeface="Söhne"/>
              </a:rPr>
              <a:t>the smart speaker that </a:t>
            </a:r>
            <a:r>
              <a:rPr lang="en-US" sz="2000" b="0" i="0" dirty="0">
                <a:solidFill>
                  <a:srgbClr val="343541"/>
                </a:solidFill>
                <a:effectLst/>
                <a:latin typeface="Söhne"/>
              </a:rPr>
              <a:t>can do it all. With </a:t>
            </a:r>
            <a:r>
              <a:rPr lang="en-US" sz="2000" dirty="0">
                <a:solidFill>
                  <a:srgbClr val="00B0F0"/>
                </a:solidFill>
                <a:latin typeface="Söhne"/>
              </a:rPr>
              <a:t>higher volumes, d</a:t>
            </a:r>
            <a:r>
              <a:rPr lang="en-US" sz="2000" b="0" i="0" dirty="0">
                <a:solidFill>
                  <a:srgbClr val="00B0F0"/>
                </a:solidFill>
                <a:effectLst/>
                <a:latin typeface="Söhne"/>
              </a:rPr>
              <a:t>eeper bass and clearer vocals</a:t>
            </a:r>
            <a:r>
              <a:rPr lang="en-US" sz="2000" b="0" i="0" dirty="0">
                <a:solidFill>
                  <a:srgbClr val="343541"/>
                </a:solidFill>
                <a:effectLst/>
                <a:latin typeface="Söhne"/>
              </a:rPr>
              <a:t> than all previous generations, you can </a:t>
            </a:r>
            <a:r>
              <a:rPr lang="en-US" sz="2000" b="0" i="0" dirty="0">
                <a:solidFill>
                  <a:srgbClr val="00B0F0"/>
                </a:solidFill>
                <a:effectLst/>
                <a:latin typeface="Söhne"/>
              </a:rPr>
              <a:t>enjoy your favorite music</a:t>
            </a:r>
            <a:r>
              <a:rPr lang="en-US" sz="2000" b="0" i="0" dirty="0">
                <a:solidFill>
                  <a:srgbClr val="343541"/>
                </a:solidFill>
                <a:effectLst/>
                <a:latin typeface="Söhne"/>
              </a:rPr>
              <a:t> from Amazon Music, Hungama, Spotify, Jio </a:t>
            </a:r>
            <a:r>
              <a:rPr lang="en-US" sz="2000" b="0" i="0" dirty="0" err="1">
                <a:solidFill>
                  <a:srgbClr val="343541"/>
                </a:solidFill>
                <a:effectLst/>
                <a:latin typeface="Söhne"/>
              </a:rPr>
              <a:t>Saavn</a:t>
            </a:r>
            <a:r>
              <a:rPr lang="en-US" sz="2000" b="0" i="0" dirty="0">
                <a:solidFill>
                  <a:srgbClr val="343541"/>
                </a:solidFill>
                <a:effectLst/>
                <a:latin typeface="Söhne"/>
              </a:rPr>
              <a:t>, Apple Music and more. Just ask Alexa to play what you want.</a:t>
            </a:r>
          </a:p>
          <a:p>
            <a:pPr marR="0" lvl="0" algn="l" defTabSz="914400" rtl="0" eaLnBrk="1" fontAlgn="auto" latinLnBrk="0" hangingPunct="1">
              <a:lnSpc>
                <a:spcPct val="100000"/>
              </a:lnSpc>
              <a:spcBef>
                <a:spcPts val="0"/>
              </a:spcBef>
              <a:spcAft>
                <a:spcPts val="0"/>
              </a:spcAft>
              <a:buClrTx/>
              <a:buSzTx/>
              <a:tabLst/>
              <a:defRPr/>
            </a:pPr>
            <a:endParaRPr lang="en-US" sz="2000" b="0" i="0" dirty="0">
              <a:solidFill>
                <a:srgbClr val="343541"/>
              </a:solidFill>
              <a:effectLst/>
              <a:latin typeface="Söhne"/>
            </a:endParaRPr>
          </a:p>
          <a:p>
            <a:pPr marR="0" lvl="0" algn="l" defTabSz="914400" rtl="0" eaLnBrk="1" fontAlgn="auto" latinLnBrk="0" hangingPunct="1">
              <a:lnSpc>
                <a:spcPct val="100000"/>
              </a:lnSpc>
              <a:spcBef>
                <a:spcPts val="0"/>
              </a:spcBef>
              <a:spcAft>
                <a:spcPts val="0"/>
              </a:spcAft>
              <a:buClrTx/>
              <a:buSzTx/>
              <a:tabLst/>
              <a:defRPr/>
            </a:pPr>
            <a:r>
              <a:rPr lang="en-US" sz="2000" b="0" i="0" dirty="0">
                <a:solidFill>
                  <a:srgbClr val="343541"/>
                </a:solidFill>
                <a:effectLst/>
                <a:latin typeface="Söhne"/>
              </a:rPr>
              <a:t>But that's not all. You can also </a:t>
            </a:r>
            <a:r>
              <a:rPr lang="en-US" sz="2000" b="0" i="0" dirty="0">
                <a:solidFill>
                  <a:srgbClr val="00B0F0"/>
                </a:solidFill>
                <a:effectLst/>
                <a:latin typeface="Söhne"/>
              </a:rPr>
              <a:t>voice control your compatible </a:t>
            </a:r>
            <a:r>
              <a:rPr lang="en-US" sz="2000" b="0" i="0" dirty="0">
                <a:solidFill>
                  <a:srgbClr val="343541"/>
                </a:solidFill>
                <a:effectLst/>
                <a:latin typeface="Söhne"/>
              </a:rPr>
              <a:t>smart appliances like lights, ACs, TVs and geysers with Alexa. And if you have </a:t>
            </a:r>
            <a:r>
              <a:rPr lang="en-US" sz="2000" b="0" i="0" dirty="0">
                <a:solidFill>
                  <a:srgbClr val="00B0F0"/>
                </a:solidFill>
                <a:effectLst/>
                <a:latin typeface="Söhne"/>
              </a:rPr>
              <a:t>non-smart appliances, you can use smart plugs </a:t>
            </a:r>
            <a:r>
              <a:rPr lang="en-US" sz="2000" b="0" i="0" dirty="0">
                <a:solidFill>
                  <a:srgbClr val="343541"/>
                </a:solidFill>
                <a:effectLst/>
                <a:latin typeface="Söhne"/>
              </a:rPr>
              <a:t>to make them work with Alexa too.</a:t>
            </a:r>
          </a:p>
          <a:p>
            <a:pPr marR="0" lvl="0" algn="l" defTabSz="914400" rtl="0" eaLnBrk="1" fontAlgn="auto" latinLnBrk="0" hangingPunct="1">
              <a:lnSpc>
                <a:spcPct val="100000"/>
              </a:lnSpc>
              <a:spcBef>
                <a:spcPts val="0"/>
              </a:spcBef>
              <a:spcAft>
                <a:spcPts val="0"/>
              </a:spcAft>
              <a:buClrTx/>
              <a:buSzTx/>
              <a:tabLst/>
              <a:defRPr/>
            </a:pPr>
            <a:endParaRPr lang="en-US" sz="2000" dirty="0">
              <a:solidFill>
                <a:srgbClr val="343541"/>
              </a:solidFill>
              <a:latin typeface="Söhne"/>
            </a:endParaRPr>
          </a:p>
          <a:p>
            <a:pPr marR="0" lvl="0" algn="l" defTabSz="914400" rtl="0" eaLnBrk="1" fontAlgn="auto" latinLnBrk="0" hangingPunct="1">
              <a:lnSpc>
                <a:spcPct val="100000"/>
              </a:lnSpc>
              <a:spcBef>
                <a:spcPts val="0"/>
              </a:spcBef>
              <a:spcAft>
                <a:spcPts val="0"/>
              </a:spcAft>
              <a:buClrTx/>
              <a:buSzTx/>
              <a:tabLst/>
              <a:defRPr/>
            </a:pPr>
            <a:r>
              <a:rPr lang="en-US" sz="2000" b="0" i="0" dirty="0">
                <a:solidFill>
                  <a:srgbClr val="343541"/>
                </a:solidFill>
                <a:effectLst/>
                <a:highlight>
                  <a:srgbClr val="FFFF00"/>
                </a:highlight>
                <a:latin typeface="Söhne"/>
              </a:rPr>
              <a:t>Create automated routines using </a:t>
            </a:r>
            <a:r>
              <a:rPr lang="en-US" sz="2000" b="0" i="0" dirty="0">
                <a:solidFill>
                  <a:srgbClr val="00B0F0"/>
                </a:solidFill>
                <a:effectLst/>
                <a:highlight>
                  <a:srgbClr val="FFFF00"/>
                </a:highlight>
                <a:latin typeface="Söhne"/>
              </a:rPr>
              <a:t>ultrasound motion detection</a:t>
            </a:r>
            <a:r>
              <a:rPr lang="en-US" sz="2000" b="0" i="0" dirty="0">
                <a:solidFill>
                  <a:srgbClr val="343541"/>
                </a:solidFill>
                <a:effectLst/>
                <a:highlight>
                  <a:srgbClr val="FFFF00"/>
                </a:highlight>
                <a:latin typeface="Söhne"/>
              </a:rPr>
              <a:t> to turn on the lights as soon as you enter the room and utilize the </a:t>
            </a:r>
            <a:r>
              <a:rPr lang="en-US" sz="2000" b="0" i="0" dirty="0">
                <a:solidFill>
                  <a:srgbClr val="00B0F0"/>
                </a:solidFill>
                <a:effectLst/>
                <a:highlight>
                  <a:srgbClr val="FFFF00"/>
                </a:highlight>
                <a:latin typeface="Söhne"/>
              </a:rPr>
              <a:t>temperature sensor </a:t>
            </a:r>
            <a:r>
              <a:rPr lang="en-US" sz="2000" b="0" i="0" dirty="0">
                <a:solidFill>
                  <a:srgbClr val="343541"/>
                </a:solidFill>
                <a:effectLst/>
                <a:highlight>
                  <a:srgbClr val="FFFF00"/>
                </a:highlight>
                <a:latin typeface="Söhne"/>
              </a:rPr>
              <a:t>to trigger the AC when changes in temperature are detected.</a:t>
            </a:r>
          </a:p>
          <a:p>
            <a:pPr marR="0" lvl="0" algn="l" defTabSz="914400" rtl="0" eaLnBrk="1" fontAlgn="auto" latinLnBrk="0" hangingPunct="1">
              <a:lnSpc>
                <a:spcPct val="100000"/>
              </a:lnSpc>
              <a:spcBef>
                <a:spcPts val="0"/>
              </a:spcBef>
              <a:spcAft>
                <a:spcPts val="0"/>
              </a:spcAft>
              <a:buClrTx/>
              <a:buSzTx/>
              <a:tabLst/>
              <a:defRPr/>
            </a:pPr>
            <a:endParaRPr lang="en-US" sz="2000" b="0" i="0" dirty="0">
              <a:solidFill>
                <a:srgbClr val="343541"/>
              </a:solidFill>
              <a:effectLst/>
              <a:highlight>
                <a:srgbClr val="FFFF00"/>
              </a:highlight>
              <a:latin typeface="Söhne"/>
            </a:endParaRPr>
          </a:p>
          <a:p>
            <a:pPr>
              <a:defRPr/>
            </a:pPr>
            <a:r>
              <a:rPr lang="en-US" sz="2000" b="0" i="0" dirty="0">
                <a:solidFill>
                  <a:srgbClr val="343541"/>
                </a:solidFill>
                <a:effectLst/>
                <a:latin typeface="Söhne"/>
              </a:rPr>
              <a:t>And if you need to pause or resume music, snooze alarms or dismiss timers, </a:t>
            </a:r>
            <a:r>
              <a:rPr lang="en-US" sz="2000" b="0" i="0" dirty="0">
                <a:solidFill>
                  <a:srgbClr val="00B0F0"/>
                </a:solidFill>
                <a:effectLst/>
                <a:latin typeface="Söhne"/>
              </a:rPr>
              <a:t>you can just tap on the Echo Dot</a:t>
            </a:r>
            <a:r>
              <a:rPr lang="en-US" sz="2000" b="0" i="0" dirty="0">
                <a:solidFill>
                  <a:srgbClr val="343541"/>
                </a:solidFill>
                <a:effectLst/>
                <a:latin typeface="Söhne"/>
              </a:rPr>
              <a:t>. No need to use your voice every time.</a:t>
            </a:r>
          </a:p>
          <a:p>
            <a:pPr marR="0" lvl="0" algn="l" defTabSz="914400" rtl="0" eaLnBrk="1" fontAlgn="auto" latinLnBrk="0" hangingPunct="1">
              <a:lnSpc>
                <a:spcPct val="100000"/>
              </a:lnSpc>
              <a:spcBef>
                <a:spcPts val="0"/>
              </a:spcBef>
              <a:spcAft>
                <a:spcPts val="0"/>
              </a:spcAft>
              <a:buClrTx/>
              <a:buSzTx/>
              <a:tabLst/>
              <a:defRPr/>
            </a:pPr>
            <a:endParaRPr lang="en-US" sz="2000" b="0" i="0" dirty="0">
              <a:solidFill>
                <a:srgbClr val="343541"/>
              </a:solidFill>
              <a:effectLst/>
              <a:latin typeface="Söhne"/>
            </a:endParaRPr>
          </a:p>
          <a:p>
            <a:pPr marR="0" lvl="0" algn="l" defTabSz="914400" rtl="0" eaLnBrk="1" fontAlgn="auto" latinLnBrk="0" hangingPunct="1">
              <a:lnSpc>
                <a:spcPct val="100000"/>
              </a:lnSpc>
              <a:spcBef>
                <a:spcPts val="0"/>
              </a:spcBef>
              <a:spcAft>
                <a:spcPts val="0"/>
              </a:spcAft>
              <a:buClrTx/>
              <a:buSzTx/>
              <a:tabLst/>
              <a:defRPr/>
            </a:pPr>
            <a:r>
              <a:rPr lang="en-US" sz="2000" b="0" i="0" dirty="0">
                <a:solidFill>
                  <a:srgbClr val="343541"/>
                </a:solidFill>
                <a:effectLst/>
                <a:latin typeface="Söhne"/>
              </a:rPr>
              <a:t>Alexa can also </a:t>
            </a:r>
            <a:r>
              <a:rPr lang="en-US" sz="2000" b="0" i="0" dirty="0">
                <a:solidFill>
                  <a:srgbClr val="00B0F0"/>
                </a:solidFill>
                <a:effectLst/>
                <a:latin typeface="Söhne"/>
              </a:rPr>
              <a:t>help you manage your day better</a:t>
            </a:r>
            <a:r>
              <a:rPr lang="en-US" sz="2000" b="0" i="0" dirty="0">
                <a:solidFill>
                  <a:srgbClr val="343541"/>
                </a:solidFill>
                <a:effectLst/>
                <a:latin typeface="Söhne"/>
              </a:rPr>
              <a:t> by setting reminders, paying bills, adding items to shopping list and much more. And </a:t>
            </a:r>
            <a:r>
              <a:rPr lang="en-US" sz="2000" b="0" i="0" dirty="0">
                <a:solidFill>
                  <a:srgbClr val="00B0F0"/>
                </a:solidFill>
                <a:effectLst/>
                <a:latin typeface="Söhne"/>
              </a:rPr>
              <a:t>Alexa can speak English and Hindi for your convenience.</a:t>
            </a:r>
          </a:p>
          <a:p>
            <a:pPr marR="0" lvl="0" algn="l" defTabSz="914400" rtl="0" eaLnBrk="1" fontAlgn="auto" latinLnBrk="0" hangingPunct="1">
              <a:lnSpc>
                <a:spcPct val="100000"/>
              </a:lnSpc>
              <a:spcBef>
                <a:spcPts val="0"/>
              </a:spcBef>
              <a:spcAft>
                <a:spcPts val="0"/>
              </a:spcAft>
              <a:buClrTx/>
              <a:buSzTx/>
              <a:tabLst/>
              <a:defRPr/>
            </a:pPr>
            <a:endParaRPr lang="en-US" sz="2000" b="0" i="0" dirty="0">
              <a:solidFill>
                <a:srgbClr val="343541"/>
              </a:solidFill>
              <a:effectLst/>
              <a:latin typeface="Söhne"/>
            </a:endParaRPr>
          </a:p>
          <a:p>
            <a:pPr marR="0" lvl="0" algn="l" defTabSz="914400" rtl="0" eaLnBrk="1" fontAlgn="auto" latinLnBrk="0" hangingPunct="1">
              <a:lnSpc>
                <a:spcPct val="100000"/>
              </a:lnSpc>
              <a:spcBef>
                <a:spcPts val="0"/>
              </a:spcBef>
              <a:spcAft>
                <a:spcPts val="0"/>
              </a:spcAft>
              <a:buClrTx/>
              <a:buSzTx/>
              <a:tabLst/>
              <a:defRPr/>
            </a:pPr>
            <a:r>
              <a:rPr lang="en-US" sz="2000" b="0" i="0" dirty="0">
                <a:solidFill>
                  <a:srgbClr val="343541"/>
                </a:solidFill>
                <a:effectLst/>
                <a:latin typeface="Söhne"/>
              </a:rPr>
              <a:t>The Echo Dot 5th Gen is also </a:t>
            </a:r>
            <a:r>
              <a:rPr lang="en-US" sz="2000" b="0" i="0" dirty="0">
                <a:solidFill>
                  <a:srgbClr val="00B0F0"/>
                </a:solidFill>
                <a:effectLst/>
                <a:latin typeface="Söhne"/>
              </a:rPr>
              <a:t>designed with your privacy in mind</a:t>
            </a:r>
            <a:r>
              <a:rPr lang="en-US" sz="2000" b="0" i="0" dirty="0">
                <a:solidFill>
                  <a:srgbClr val="343541"/>
                </a:solidFill>
                <a:effectLst/>
                <a:latin typeface="Söhne"/>
              </a:rPr>
              <a:t>. It comes with </a:t>
            </a:r>
            <a:r>
              <a:rPr lang="en-US" sz="2000" b="0" i="0" dirty="0">
                <a:solidFill>
                  <a:srgbClr val="00B0F0"/>
                </a:solidFill>
                <a:effectLst/>
                <a:latin typeface="Söhne"/>
              </a:rPr>
              <a:t>multiple privacy controls, including a mic off button that disconnects the microphone electronically</a:t>
            </a:r>
          </a:p>
        </p:txBody>
      </p:sp>
    </p:spTree>
    <p:extLst>
      <p:ext uri="{BB962C8B-B14F-4D97-AF65-F5344CB8AC3E}">
        <p14:creationId xmlns:p14="http://schemas.microsoft.com/office/powerpoint/2010/main" val="2216338973"/>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201A40F-8D61-524D-9FC2-931C3710699F}"/>
              </a:ext>
            </a:extLst>
          </p:cNvPr>
          <p:cNvSpPr/>
          <p:nvPr/>
        </p:nvSpPr>
        <p:spPr>
          <a:xfrm>
            <a:off x="5570376" y="0"/>
            <a:ext cx="6621624"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DDD71843-B21B-46E1-8F2B-FE6171D57D87}"/>
              </a:ext>
            </a:extLst>
          </p:cNvPr>
          <p:cNvSpPr txBox="1"/>
          <p:nvPr/>
        </p:nvSpPr>
        <p:spPr>
          <a:xfrm>
            <a:off x="5756306" y="20604"/>
            <a:ext cx="756745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Summary for Echo dot 5</a:t>
            </a:r>
            <a:r>
              <a:rPr kumimoji="0" lang="en-US" sz="2800" b="0" i="0" u="none" strike="noStrike" kern="1200" cap="none" spc="0" normalizeH="0" baseline="30000" noProof="0" dirty="0">
                <a:ln>
                  <a:noFill/>
                </a:ln>
                <a:solidFill>
                  <a:srgbClr val="00B0F0"/>
                </a:solidFill>
                <a:effectLst/>
                <a:uLnTx/>
                <a:uFillTx/>
                <a:latin typeface="Arial" panose="020B0604020202020204" pitchFamily="34" charset="0"/>
                <a:ea typeface="+mn-ea"/>
                <a:cs typeface="Arial" panose="020B0604020202020204" pitchFamily="34" charset="0"/>
              </a:rPr>
              <a:t>th</a:t>
            </a:r>
            <a:r>
              <a:rPr kumimoji="0" lang="en-US" sz="28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 Gen</a:t>
            </a:r>
            <a:endParaRPr kumimoji="0" lang="en-US"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2" name="TextBox 1">
            <a:extLst>
              <a:ext uri="{FF2B5EF4-FFF2-40B4-BE49-F238E27FC236}">
                <a16:creationId xmlns:a16="http://schemas.microsoft.com/office/drawing/2014/main" id="{C010D4AF-7AD4-015D-A99A-B12FC7D1EAE4}"/>
              </a:ext>
            </a:extLst>
          </p:cNvPr>
          <p:cNvSpPr txBox="1"/>
          <p:nvPr/>
        </p:nvSpPr>
        <p:spPr>
          <a:xfrm>
            <a:off x="5756306" y="1087647"/>
            <a:ext cx="6249764" cy="5324535"/>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Improved speaker system </a:t>
            </a: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with 10% larger driver and up to 2x more bass for a dynamic audio experience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B0F0"/>
                </a:solidFill>
                <a:effectLst/>
                <a:highlight>
                  <a:srgbClr val="FFFF00"/>
                </a:highlight>
                <a:uLnTx/>
                <a:uFillTx/>
                <a:latin typeface="Arial" panose="020B0604020202020204" pitchFamily="34" charset="0"/>
                <a:ea typeface="+mn-ea"/>
                <a:cs typeface="Arial" panose="020B0604020202020204" pitchFamily="34" charset="0"/>
              </a:rPr>
              <a:t>Ultrasound motion detection and temperature sensor </a:t>
            </a:r>
            <a:r>
              <a:rPr kumimoji="0" lang="en-US" sz="2000" b="0" i="0" u="none" strike="noStrike" kern="1200" cap="none" spc="0" normalizeH="0" baseline="0" noProof="0" dirty="0">
                <a:ln>
                  <a:noFill/>
                </a:ln>
                <a:solidFill>
                  <a:schemeClr val="tx1">
                    <a:lumMod val="75000"/>
                    <a:lumOff val="25000"/>
                  </a:schemeClr>
                </a:solidFill>
                <a:effectLst/>
                <a:highlight>
                  <a:srgbClr val="FFFF00"/>
                </a:highlight>
                <a:uLnTx/>
                <a:uFillTx/>
                <a:latin typeface="Arial" panose="020B0604020202020204" pitchFamily="34" charset="0"/>
                <a:ea typeface="+mn-ea"/>
                <a:cs typeface="Arial" panose="020B0604020202020204" pitchFamily="34" charset="0"/>
              </a:rPr>
              <a:t>to automatically trigger routines, like turning on the lights or AC</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Tap gesture controls </a:t>
            </a: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to pause/resume music, snooze alarms, or dismiss timers with ease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Better mic comprehension </a:t>
            </a: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for better listening and response compared to previous generations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Built-in Alexa privacy settings for controlling microphone </a:t>
            </a: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access and deleting voice recordings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endParaRPr>
          </a:p>
          <a:p>
            <a:pPr marR="0" lvl="0" algn="ctr" defTabSz="914400" rtl="0" eaLnBrk="1" fontAlgn="auto" latinLnBrk="0" hangingPunct="1">
              <a:lnSpc>
                <a:spcPct val="100000"/>
              </a:lnSpc>
              <a:spcBef>
                <a:spcPts val="0"/>
              </a:spcBef>
              <a:spcAft>
                <a:spcPts val="0"/>
              </a:spcAft>
              <a:buClrTx/>
              <a:buSzTx/>
              <a:tabLst/>
              <a:defRPr/>
            </a:pP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Echo Dot 5th Gen delivers a </a:t>
            </a:r>
            <a:r>
              <a:rPr kumimoji="0" lang="en-US" sz="20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superior audio experience </a:t>
            </a: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with smart features like </a:t>
            </a:r>
            <a:r>
              <a:rPr kumimoji="0" lang="en-US" sz="2000" b="0" i="0" u="none" strike="noStrike" kern="1200" cap="none" spc="0" normalizeH="0" baseline="0" noProof="0" dirty="0">
                <a:ln>
                  <a:noFill/>
                </a:ln>
                <a:solidFill>
                  <a:srgbClr val="00B0F0"/>
                </a:solidFill>
                <a:effectLst/>
                <a:uLnTx/>
                <a:uFillTx/>
                <a:latin typeface="Arial" panose="020B0604020202020204" pitchFamily="34" charset="0"/>
                <a:ea typeface="+mn-ea"/>
                <a:cs typeface="Arial" panose="020B0604020202020204" pitchFamily="34" charset="0"/>
              </a:rPr>
              <a:t>motion detection and tap controls</a:t>
            </a:r>
            <a:r>
              <a:rPr kumimoji="0" lang="en-US" sz="2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Arial" panose="020B0604020202020204" pitchFamily="34" charset="0"/>
              </a:rPr>
              <a:t>, making it the perfect addition to your smart home ecosystem.</a:t>
            </a:r>
          </a:p>
        </p:txBody>
      </p:sp>
      <p:pic>
        <p:nvPicPr>
          <p:cNvPr id="5" name="Picture 2">
            <a:extLst>
              <a:ext uri="{FF2B5EF4-FFF2-40B4-BE49-F238E27FC236}">
                <a16:creationId xmlns:a16="http://schemas.microsoft.com/office/drawing/2014/main" id="{03325D78-B4B0-64C5-4AA2-49A3DC9738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60" y="932247"/>
            <a:ext cx="5635336" cy="563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967540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2034</Words>
  <Application>Microsoft Macintosh PowerPoint</Application>
  <PresentationFormat>Widescreen</PresentationFormat>
  <Paragraphs>109</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Calibri</vt:lpstr>
      <vt:lpstr>Söhne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Kavya Rajkumar</dc:creator>
  <cp:lastModifiedBy>Gopal Swaminathan</cp:lastModifiedBy>
  <cp:revision>1</cp:revision>
  <dcterms:created xsi:type="dcterms:W3CDTF">2025-05-13T08:30:57Z</dcterms:created>
  <dcterms:modified xsi:type="dcterms:W3CDTF">2025-05-27T05:43:11Z</dcterms:modified>
</cp:coreProperties>
</file>